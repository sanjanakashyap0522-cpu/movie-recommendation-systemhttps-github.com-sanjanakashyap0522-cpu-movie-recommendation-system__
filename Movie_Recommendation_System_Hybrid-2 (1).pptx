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ore0.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 Id="rId5" Type="http://schemas.openxmlformats.org/officedocument/2006/relationships/metadata/core-properties" Target="docProps/core0.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5" r:id="rId9"/>
    <p:sldId id="271" r:id="rId19"/>
    <p:sldId id="272" r:id="rId20"/>
    <p:sldId id="266" r:id="rId10"/>
    <p:sldId id="267" r:id="rId11"/>
    <p:sldId id="268" r:id="rId12"/>
    <p:sldId id="270" r:id="rId13"/>
    <p:sldId id="273" r:id="rId21"/>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F64368-3437-454D-95DE-7098F77E080C}" type="datetimeFigureOut">
              <a:rPr lang="en-IN" smtClean="0"/>
              <a:t>11-08-2026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0E8BF8-1E41-4804-8890-00ABF49DBB48}" type="slidenum">
              <a:rPr lang="en-IN" smtClean="0"/>
              <a:t>‹#›</a:t>
            </a:fld>
            <a:endParaRPr lang="en-IN"/>
          </a:p>
        </p:txBody>
      </p:sp>
    </p:spTree>
    <p:extLst>
      <p:ext uri="{BB962C8B-B14F-4D97-AF65-F5344CB8AC3E}">
        <p14:creationId xmlns:p14="http://schemas.microsoft.com/office/powerpoint/2010/main" val="27935734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D0E8BF8-1E41-4804-8890-00ABF49DBB48}" type="slidenum">
              <a:rPr lang="en-IN" smtClean="0"/>
              <a:t>3</a:t>
            </a:fld>
            <a:endParaRPr lang="en-IN"/>
          </a:p>
        </p:txBody>
      </p:sp>
    </p:spTree>
    <p:extLst>
      <p:ext uri="{BB962C8B-B14F-4D97-AF65-F5344CB8AC3E}">
        <p14:creationId xmlns:p14="http://schemas.microsoft.com/office/powerpoint/2010/main" val="41308802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image" Target="../media/image2.png"/><Relationship Id="rId5"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lt1"/>
        </a:solidFill>
        <a:effectLst/>
      </p:bgPr>
    </p:bg>
    <p:spTree>
      <p:nvGrpSpPr>
        <p:cNvPr id="1" name=""/>
        <p:cNvGrpSpPr/>
        <p:nvPr/>
      </p:nvGrpSpPr>
      <p:grpSpPr>
        <a:xfrm>
          <a:off x="0" y="0"/>
          <a:ext cx="0" cy="0"/>
          <a:chOff x="0" y="0"/>
          <a:chExt cx="0" cy="0"/>
        </a:xfrm>
      </p:grpSpPr>
      <p:pic>
        <p:nvPicPr>
          <p:cNvPr id="2" name="Google Shape;9;p2"/>
          <p:cNvPicPr/>
          <p:nvPr/>
        </p:nvPicPr>
        <p:blipFill>
          <a:blip r:embed="rId2"/>
          <a:stretch/>
        </p:blipFill>
        <p:spPr>
          <a:xfrm>
            <a:off x="0" y="0"/>
            <a:ext cx="9143640" cy="5143320"/>
          </a:xfrm>
          <a:prstGeom prst="rect">
            <a:avLst/>
          </a:prstGeom>
          <a:noFill/>
          <a:ln w="0">
            <a:noFill/>
          </a:ln>
        </p:spPr>
      </p:pic>
      <p:grpSp>
        <p:nvGrpSpPr>
          <p:cNvPr id="3" name="Google Shape;10;p2"/>
          <p:cNvGrpSpPr/>
          <p:nvPr/>
        </p:nvGrpSpPr>
        <p:grpSpPr>
          <a:xfrm>
            <a:off x="-538920" y="-736200"/>
            <a:ext cx="3259800" cy="6987240"/>
            <a:chOff x="-538920" y="-736200"/>
            <a:chExt cx="3259800" cy="6987240"/>
          </a:xfrm>
        </p:grpSpPr>
        <p:pic>
          <p:nvPicPr>
            <p:cNvPr id="4" name="Google Shape;11;p2"/>
            <p:cNvPicPr/>
            <p:nvPr/>
          </p:nvPicPr>
          <p:blipFill>
            <a:blip r:embed="rId3"/>
            <a:stretch/>
          </p:blipFill>
          <p:spPr>
            <a:xfrm>
              <a:off x="-538920" y="4181400"/>
              <a:ext cx="2503800" cy="2069640"/>
            </a:xfrm>
            <a:prstGeom prst="rect">
              <a:avLst/>
            </a:prstGeom>
            <a:noFill/>
            <a:ln w="0">
              <a:noFill/>
            </a:ln>
          </p:spPr>
        </p:pic>
        <p:pic>
          <p:nvPicPr>
            <p:cNvPr id="5" name="Google Shape;12;p2"/>
            <p:cNvPicPr/>
            <p:nvPr/>
          </p:nvPicPr>
          <p:blipFill>
            <a:blip r:embed="rId4"/>
            <a:stretch/>
          </p:blipFill>
          <p:spPr>
            <a:xfrm flipH="1">
              <a:off x="-192240" y="-736200"/>
              <a:ext cx="2913120" cy="1546200"/>
            </a:xfrm>
            <a:prstGeom prst="rect">
              <a:avLst/>
            </a:prstGeom>
            <a:noFill/>
            <a:ln w="0">
              <a:noFill/>
            </a:ln>
          </p:spPr>
        </p:pic>
      </p:grpSp>
      <p:sp>
        <p:nvSpPr>
          <p:cNvPr id="6" name="PlaceHolder 1"/>
          <p:cNvSpPr>
            <a:spLocks noGrp="1"/>
          </p:cNvSpPr>
          <p:nvPr>
            <p:ph type="title"/>
          </p:nvPr>
        </p:nvSpPr>
        <p:spPr>
          <a:xfrm>
            <a:off x="911160" y="768240"/>
            <a:ext cx="5065200" cy="2266920"/>
          </a:xfrm>
          <a:prstGeom prst="rect">
            <a:avLst/>
          </a:prstGeom>
          <a:noFill/>
          <a:ln w="0">
            <a:noFill/>
          </a:ln>
        </p:spPr>
        <p:txBody>
          <a:bodyPr lIns="91440" tIns="91440" rIns="91440" bIns="91440" anchor="b">
            <a:noAutofit/>
          </a:bodyPr>
          <a:lstStyle/>
          <a:p>
            <a:pPr indent="0">
              <a:buNone/>
            </a:pPr>
            <a:r>
              <a:rPr lang="fr-FR" sz="7000" b="0" u="none" strike="noStrike">
                <a:solidFill>
                  <a:schemeClr val="dk1"/>
                </a:solidFill>
                <a:effectLst/>
                <a:uFillTx/>
                <a:latin typeface="Arial"/>
              </a:rPr>
              <a:t>Click to edit the title text format</a:t>
            </a:r>
          </a:p>
        </p:txBody>
      </p:sp>
      <p:grpSp>
        <p:nvGrpSpPr>
          <p:cNvPr id="7" name="Google Shape;15;p2"/>
          <p:cNvGrpSpPr/>
          <p:nvPr/>
        </p:nvGrpSpPr>
        <p:grpSpPr>
          <a:xfrm>
            <a:off x="5753160" y="-762840"/>
            <a:ext cx="3904560" cy="6836040"/>
            <a:chOff x="5753160" y="-762840"/>
            <a:chExt cx="3904560" cy="6836040"/>
          </a:xfrm>
        </p:grpSpPr>
        <p:pic>
          <p:nvPicPr>
            <p:cNvPr id="8" name="Google Shape;16;p2"/>
            <p:cNvPicPr/>
            <p:nvPr/>
          </p:nvPicPr>
          <p:blipFill>
            <a:blip r:embed="rId5"/>
            <a:stretch/>
          </p:blipFill>
          <p:spPr>
            <a:xfrm>
              <a:off x="5753160" y="-762840"/>
              <a:ext cx="3904560" cy="2199960"/>
            </a:xfrm>
            <a:prstGeom prst="rect">
              <a:avLst/>
            </a:prstGeom>
            <a:noFill/>
            <a:ln w="0">
              <a:noFill/>
            </a:ln>
          </p:spPr>
        </p:pic>
        <p:pic>
          <p:nvPicPr>
            <p:cNvPr id="9" name="Google Shape;17;p2"/>
            <p:cNvPicPr/>
            <p:nvPr/>
          </p:nvPicPr>
          <p:blipFill>
            <a:blip r:embed="rId6"/>
            <a:stretch/>
          </p:blipFill>
          <p:spPr>
            <a:xfrm>
              <a:off x="6730920" y="766080"/>
              <a:ext cx="2356200" cy="2943360"/>
            </a:xfrm>
            <a:prstGeom prst="rect">
              <a:avLst/>
            </a:prstGeom>
            <a:noFill/>
            <a:ln w="0">
              <a:noFill/>
            </a:ln>
          </p:spPr>
        </p:pic>
        <p:pic>
          <p:nvPicPr>
            <p:cNvPr id="10" name="Google Shape;18;p2"/>
            <p:cNvPicPr/>
            <p:nvPr/>
          </p:nvPicPr>
          <p:blipFill>
            <a:blip r:embed="rId7"/>
            <a:stretch/>
          </p:blipFill>
          <p:spPr>
            <a:xfrm>
              <a:off x="6005520" y="3873240"/>
              <a:ext cx="2551680" cy="2199960"/>
            </a:xfrm>
            <a:prstGeom prst="rect">
              <a:avLst/>
            </a:prstGeom>
            <a:noFill/>
            <a:ln w="0">
              <a:noFill/>
            </a:ln>
          </p:spPr>
        </p:pic>
        <p:pic>
          <p:nvPicPr>
            <p:cNvPr id="11" name="Google Shape;19;p2"/>
            <p:cNvPicPr/>
            <p:nvPr/>
          </p:nvPicPr>
          <p:blipFill>
            <a:blip r:embed="rId8"/>
            <a:stretch/>
          </p:blipFill>
          <p:spPr>
            <a:xfrm>
              <a:off x="7938000" y="2817720"/>
              <a:ext cx="1572840" cy="1546200"/>
            </a:xfrm>
            <a:prstGeom prst="rect">
              <a:avLst/>
            </a:prstGeom>
            <a:noFill/>
            <a:ln w="0">
              <a:noFill/>
            </a:ln>
          </p:spPr>
        </p:pic>
      </p:grpSp>
      <p:sp>
        <p:nvSpPr>
          <p:cNvPr id="12"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chemeClr val="lt1"/>
        </a:solidFill>
        <a:effectLst/>
      </p:bgPr>
    </p:bg>
    <p:spTree>
      <p:nvGrpSpPr>
        <p:cNvPr id="1" name=""/>
        <p:cNvGrpSpPr/>
        <p:nvPr/>
      </p:nvGrpSpPr>
      <p:grpSpPr>
        <a:xfrm>
          <a:off x="0" y="0"/>
          <a:ext cx="0" cy="0"/>
          <a:chOff x="0" y="0"/>
          <a:chExt cx="0" cy="0"/>
        </a:xfrm>
      </p:grpSpPr>
      <p:pic>
        <p:nvPicPr>
          <p:cNvPr id="16" name="Google Shape;53;p6"/>
          <p:cNvPicPr/>
          <p:nvPr/>
        </p:nvPicPr>
        <p:blipFill>
          <a:blip r:embed="rId2"/>
          <a:stretch/>
        </p:blipFill>
        <p:spPr>
          <a:xfrm>
            <a:off x="0" y="0"/>
            <a:ext cx="9143640" cy="5143320"/>
          </a:xfrm>
          <a:prstGeom prst="rect">
            <a:avLst/>
          </a:prstGeom>
          <a:noFill/>
          <a:ln w="0">
            <a:noFill/>
          </a:ln>
        </p:spPr>
      </p:pic>
      <p:sp>
        <p:nvSpPr>
          <p:cNvPr id="17"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grpSp>
        <p:nvGrpSpPr>
          <p:cNvPr id="18" name="Google Shape;55;p6"/>
          <p:cNvGrpSpPr/>
          <p:nvPr/>
        </p:nvGrpSpPr>
        <p:grpSpPr>
          <a:xfrm>
            <a:off x="-853200" y="-1383480"/>
            <a:ext cx="11058480" cy="6852240"/>
            <a:chOff x="-853200" y="-1383480"/>
            <a:chExt cx="11058480" cy="6852240"/>
          </a:xfrm>
        </p:grpSpPr>
        <p:pic>
          <p:nvPicPr>
            <p:cNvPr id="19" name="Google Shape;56;p6"/>
            <p:cNvPicPr/>
            <p:nvPr/>
          </p:nvPicPr>
          <p:blipFill>
            <a:blip r:embed="rId3"/>
            <a:stretch/>
          </p:blipFill>
          <p:spPr>
            <a:xfrm rot="20969400" flipH="1">
              <a:off x="7826760" y="3783960"/>
              <a:ext cx="1676520" cy="1544760"/>
            </a:xfrm>
            <a:prstGeom prst="rect">
              <a:avLst/>
            </a:prstGeom>
            <a:noFill/>
            <a:ln w="0">
              <a:noFill/>
            </a:ln>
          </p:spPr>
        </p:pic>
        <p:pic>
          <p:nvPicPr>
            <p:cNvPr id="20" name="Google Shape;57;p6"/>
            <p:cNvPicPr/>
            <p:nvPr/>
          </p:nvPicPr>
          <p:blipFill>
            <a:blip r:embed="rId4"/>
            <a:stretch/>
          </p:blipFill>
          <p:spPr>
            <a:xfrm rot="19155600">
              <a:off x="7329240" y="-817200"/>
              <a:ext cx="2503800" cy="2069640"/>
            </a:xfrm>
            <a:prstGeom prst="rect">
              <a:avLst/>
            </a:prstGeom>
            <a:noFill/>
            <a:ln w="0">
              <a:noFill/>
            </a:ln>
          </p:spPr>
        </p:pic>
        <p:pic>
          <p:nvPicPr>
            <p:cNvPr id="21" name="Google Shape;58;p6"/>
            <p:cNvPicPr/>
            <p:nvPr/>
          </p:nvPicPr>
          <p:blipFill>
            <a:blip r:embed="rId5"/>
            <a:stretch/>
          </p:blipFill>
          <p:spPr>
            <a:xfrm>
              <a:off x="-853200" y="350640"/>
              <a:ext cx="1572840" cy="1546200"/>
            </a:xfrm>
            <a:prstGeom prst="rect">
              <a:avLst/>
            </a:prstGeom>
            <a:noFill/>
            <a:ln w="0">
              <a:noFill/>
            </a:ln>
          </p:spPr>
        </p:pic>
      </p:grpSp>
      <p:sp>
        <p:nvSpPr>
          <p:cNvPr id="22"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SECTION_TITLE_AND_DESCRIPTION">
    <p:bg>
      <p:bgPr>
        <a:solidFill>
          <a:schemeClr val="lt1"/>
        </a:solidFill>
        <a:effectLst/>
      </p:bgPr>
    </p:bg>
    <p:spTree>
      <p:nvGrpSpPr>
        <p:cNvPr id="1" name=""/>
        <p:cNvGrpSpPr/>
        <p:nvPr/>
      </p:nvGrpSpPr>
      <p:grpSpPr>
        <a:xfrm>
          <a:off x="0" y="0"/>
          <a:ext cx="0" cy="0"/>
          <a:chOff x="0" y="0"/>
          <a:chExt cx="0" cy="0"/>
        </a:xfrm>
      </p:grpSpPr>
      <p:pic>
        <p:nvPicPr>
          <p:cNvPr id="23" name="Google Shape;82;p9"/>
          <p:cNvPicPr/>
          <p:nvPr/>
        </p:nvPicPr>
        <p:blipFill>
          <a:blip r:embed="rId2"/>
          <a:stretch/>
        </p:blipFill>
        <p:spPr>
          <a:xfrm>
            <a:off x="0" y="0"/>
            <a:ext cx="9143640" cy="5143320"/>
          </a:xfrm>
          <a:prstGeom prst="rect">
            <a:avLst/>
          </a:prstGeom>
          <a:noFill/>
          <a:ln w="0">
            <a:noFill/>
          </a:ln>
        </p:spPr>
      </p:pic>
      <p:sp>
        <p:nvSpPr>
          <p:cNvPr id="24"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grpSp>
        <p:nvGrpSpPr>
          <p:cNvPr id="25" name="Google Shape;86;p9"/>
          <p:cNvGrpSpPr/>
          <p:nvPr/>
        </p:nvGrpSpPr>
        <p:grpSpPr>
          <a:xfrm>
            <a:off x="-757440" y="1549080"/>
            <a:ext cx="10205280" cy="4604760"/>
            <a:chOff x="-757440" y="1549080"/>
            <a:chExt cx="10205280" cy="4604760"/>
          </a:xfrm>
        </p:grpSpPr>
        <p:pic>
          <p:nvPicPr>
            <p:cNvPr id="26" name="Google Shape;87;p9"/>
            <p:cNvPicPr/>
            <p:nvPr/>
          </p:nvPicPr>
          <p:blipFill>
            <a:blip r:embed="rId3"/>
            <a:stretch/>
          </p:blipFill>
          <p:spPr>
            <a:xfrm>
              <a:off x="6896160" y="3953880"/>
              <a:ext cx="2551680" cy="2199960"/>
            </a:xfrm>
            <a:prstGeom prst="rect">
              <a:avLst/>
            </a:prstGeom>
            <a:noFill/>
            <a:ln w="0">
              <a:noFill/>
            </a:ln>
          </p:spPr>
        </p:pic>
        <p:pic>
          <p:nvPicPr>
            <p:cNvPr id="27" name="Google Shape;88;p9"/>
            <p:cNvPicPr/>
            <p:nvPr/>
          </p:nvPicPr>
          <p:blipFill>
            <a:blip r:embed="rId4"/>
            <a:stretch/>
          </p:blipFill>
          <p:spPr>
            <a:xfrm rot="5400000">
              <a:off x="-770760" y="1562400"/>
              <a:ext cx="1572840" cy="1546200"/>
            </a:xfrm>
            <a:prstGeom prst="rect">
              <a:avLst/>
            </a:prstGeom>
            <a:noFill/>
            <a:ln w="0">
              <a:noFill/>
            </a:ln>
          </p:spPr>
        </p:pic>
      </p:grpSp>
      <p:sp>
        <p:nvSpPr>
          <p:cNvPr id="28"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9.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0.png"/><Relationship Id="rId6" Type="http://schemas.openxmlformats.org/officeDocument/2006/relationships/image" Target="../media/image2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16.png"/><Relationship Id="rId7" Type="http://schemas.openxmlformats.org/officeDocument/2006/relationships/image" Target="../media/image3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4.png"/><Relationship Id="rId3" Type="http://schemas.openxmlformats.org/officeDocument/2006/relationships/image" Target="../media/image45.png"/><Relationship Id="rId4" Type="http://schemas.openxmlformats.org/officeDocument/2006/relationships/image" Target="../media/image4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7.png"/><Relationship Id="rId3" Type="http://schemas.openxmlformats.org/officeDocument/2006/relationships/image" Target="../media/image48.png"/><Relationship Id="rId4" Type="http://schemas.openxmlformats.org/officeDocument/2006/relationships/image" Target="../media/image4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 Id="rId3" Type="http://schemas.openxmlformats.org/officeDocument/2006/relationships/image" Target="../media/image29.png"/><Relationship Id="rId4" Type="http://schemas.openxmlformats.org/officeDocument/2006/relationships/image" Target="../media/image3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3.png"/><Relationship Id="rId3" Type="http://schemas.openxmlformats.org/officeDocument/2006/relationships/image" Target="../media/image34.png"/><Relationship Id="rId4" Type="http://schemas.openxmlformats.org/officeDocument/2006/relationships/image" Target="../media/image3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Google Shape;201;p25"/>
          <p:cNvCxnSpPr/>
          <p:nvPr/>
        </p:nvCxnSpPr>
        <p:spPr>
          <a:xfrm>
            <a:off x="984240" y="3238920"/>
            <a:ext cx="4923720" cy="360"/>
          </a:xfrm>
          <a:prstGeom prst="straightConnector1">
            <a:avLst/>
          </a:prstGeom>
          <a:ln w="28575">
            <a:solidFill>
              <a:srgbClr val="BDB69D"/>
            </a:solidFill>
            <a:round/>
          </a:ln>
        </p:spPr>
      </p:cxnSp>
      <p:sp>
        <p:nvSpPr>
          <p:cNvPr id="30" name="Rectangle 29"/>
          <p:cNvSpPr/>
          <p:nvPr/>
        </p:nvSpPr>
        <p:spPr>
          <a:xfrm>
            <a:off x="1000440" y="1223820"/>
            <a:ext cx="5676480" cy="1828440"/>
          </a:xfrm>
          <a:prstGeom prst="rect">
            <a:avLst/>
          </a:prstGeom>
          <a:noFill/>
          <a:ln w="0">
            <a:noFill/>
          </a:ln>
        </p:spPr>
        <p:style>
          <a:lnRef idx="0">
            <a:scrgbClr r="0" g="0" b="0"/>
          </a:lnRef>
          <a:fillRef idx="0">
            <a:scrgbClr r="0" g="0" b="0"/>
          </a:fillRef>
          <a:effectRef idx="0">
            <a:scrgbClr r="0" g="0" b="0"/>
          </a:effectRef>
          <a:fontRef idx="minor"/>
        </p:style>
        <p:txBody>
          <a:bodyPr anchor="b">
            <a:normAutofit fontScale="92500" lnSpcReduction="20000"/>
          </a:bodyPr>
          <a:lstStyle/>
          <a:p>
            <a:pPr defTabSz="914400">
              <a:lnSpc>
                <a:spcPct val="100000"/>
              </a:lnSpc>
              <a:tabLst>
                <a:tab pos="0" algn="l"/>
              </a:tabLst>
            </a:pPr>
            <a:r>
              <a:rPr lang="en-US" sz="4800" b="1" u="none" strike="noStrike" dirty="0">
                <a:solidFill>
                  <a:srgbClr val="FEFCF6"/>
                </a:solidFill>
                <a:effectLst/>
                <a:uFillTx/>
                <a:latin typeface="Algerian" panose="04020705040A02060702" pitchFamily="82" charset="0"/>
              </a:rPr>
              <a:t>🎬Movie           Recommendation  System</a:t>
            </a:r>
            <a:endParaRPr lang="en-US" sz="4800" b="0" u="none" strike="noStrike" dirty="0">
              <a:solidFill>
                <a:srgbClr val="FFFFFF"/>
              </a:solidFill>
              <a:effectLst/>
              <a:uFillTx/>
              <a:latin typeface="Algerian" panose="04020705040A02060702" pitchFamily="82" charset="0"/>
            </a:endParaRPr>
          </a:p>
        </p:txBody>
      </p:sp>
      <p:sp>
        <p:nvSpPr>
          <p:cNvPr id="31" name="Rectangle 30"/>
          <p:cNvSpPr/>
          <p:nvPr/>
        </p:nvSpPr>
        <p:spPr>
          <a:xfrm>
            <a:off x="3375840" y="560610"/>
            <a:ext cx="2285640" cy="24768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r>
              <a:rPr lang="en-US" sz="1600" b="0" u="none" strike="noStrike" dirty="0">
                <a:solidFill>
                  <a:srgbClr val="FEFCF6"/>
                </a:solidFill>
                <a:effectLst/>
                <a:uFillTx/>
                <a:latin typeface="Tempus Sans ITC" panose="04020404030D07020202" pitchFamily="82" charset="0"/>
              </a:rPr>
              <a:t>✍️</a:t>
            </a:r>
            <a:r>
              <a:rPr lang="en-US" sz="1050" b="0" u="none" strike="noStrike" dirty="0">
                <a:solidFill>
                  <a:srgbClr val="FEFCF6"/>
                </a:solidFill>
                <a:effectLst/>
                <a:uFillTx/>
                <a:latin typeface="Tempus Sans ITC" panose="04020404030D07020202" pitchFamily="82" charset="0"/>
              </a:rPr>
              <a:t>HYBRID-POWERED ENGINE</a:t>
            </a:r>
            <a:endParaRPr lang="en-US" sz="1050" b="0" u="none" strike="noStrike" dirty="0">
              <a:solidFill>
                <a:srgbClr val="FFFFFF"/>
              </a:solidFill>
              <a:effectLst/>
              <a:uFillTx/>
              <a:latin typeface="Tempus Sans ITC" panose="04020404030D07020202" pitchFamily="82" charset="0"/>
            </a:endParaRPr>
          </a:p>
        </p:txBody>
      </p:sp>
      <p:sp>
        <p:nvSpPr>
          <p:cNvPr id="32" name="Rectangle 31"/>
          <p:cNvSpPr/>
          <p:nvPr/>
        </p:nvSpPr>
        <p:spPr>
          <a:xfrm>
            <a:off x="978480" y="3316410"/>
            <a:ext cx="6495840" cy="88560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85000" lnSpcReduction="10000"/>
          </a:bodyPr>
          <a:lstStyle/>
          <a:p>
            <a:pPr defTabSz="914400">
              <a:lnSpc>
                <a:spcPct val="100000"/>
              </a:lnSpc>
              <a:tabLst>
                <a:tab pos="0" algn="l"/>
              </a:tabLst>
            </a:pPr>
            <a:r>
              <a:rPr lang="en-US" sz="1400" b="0" u="none" strike="noStrike" dirty="0">
                <a:solidFill>
                  <a:srgbClr val="FEFCF6"/>
                </a:solidFill>
                <a:effectLst/>
                <a:uFillTx/>
                <a:latin typeface="Sitka Small Semibold" pitchFamily="2" charset="0"/>
              </a:rPr>
              <a:t>A concise roadmap for building a movie recommendation system covering data, models, pipeline, evaluation, and deployment. </a:t>
            </a:r>
            <a:r>
              <a:rPr lang="en-US" sz="1500" b="0" u="sng" strike="noStrike" dirty="0">
                <a:effectLst/>
                <a:uFillTx/>
                <a:latin typeface="Sitka Small Semibold" pitchFamily="2" charset="0"/>
              </a:rPr>
              <a:t>KEY POINT:-</a:t>
            </a:r>
            <a:r>
              <a:rPr lang="en-US" sz="1500" b="0" u="none" strike="noStrike" dirty="0">
                <a:effectLst/>
                <a:uFillTx/>
                <a:latin typeface="Sitka Small Semibold" pitchFamily="2" charset="0"/>
              </a:rPr>
              <a:t> </a:t>
            </a:r>
            <a:r>
              <a:rPr lang="en-US" sz="1400" b="0" u="none" strike="noStrike" dirty="0">
                <a:solidFill>
                  <a:srgbClr val="FEFCF6"/>
                </a:solidFill>
                <a:effectLst/>
                <a:uFillTx/>
                <a:latin typeface="Sitka Small Semibold" pitchFamily="2" charset="0"/>
              </a:rPr>
              <a:t> Deliver personalized, scalable recommendations with robust evaluation and real-time serving. Emphasis on modular pipeline and production considerations.</a:t>
            </a:r>
            <a:endParaRPr lang="en-US" sz="1400" b="0" u="none" strike="noStrike" dirty="0">
              <a:solidFill>
                <a:srgbClr val="FFFFFF"/>
              </a:solidFill>
              <a:effectLst/>
              <a:uFillTx/>
              <a:latin typeface="Sitka Small Semibold" pitchFamily="2" charset="0"/>
            </a:endParaRPr>
          </a:p>
        </p:txBody>
      </p:sp>
      <p:sp>
        <p:nvSpPr>
          <p:cNvPr id="33" name="Rectangle 32"/>
          <p:cNvSpPr/>
          <p:nvPr/>
        </p:nvSpPr>
        <p:spPr>
          <a:xfrm>
            <a:off x="3762480" y="838485"/>
            <a:ext cx="2990520" cy="13284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r>
              <a:rPr lang="en-US" sz="1100" b="0" i="1" u="none" strike="noStrike" dirty="0">
                <a:solidFill>
                  <a:srgbClr val="FEFCF6"/>
                </a:solidFill>
                <a:effectLst/>
                <a:uFillTx/>
                <a:latin typeface="Playfair Display"/>
              </a:rPr>
              <a:t>_Sanjana Kashyap_</a:t>
            </a:r>
            <a:r>
              <a:rPr lang="en-US" sz="1100" b="0" i="1" u="none" strike="noStrike" dirty="0">
                <a:solidFill>
                  <a:srgbClr val="FEFCF6"/>
                </a:solidFill>
                <a:effectLst/>
                <a:uFillTx/>
                <a:latin typeface="DM Sans"/>
              </a:rPr>
              <a:t> </a:t>
            </a:r>
            <a:endParaRPr lang="en-US" sz="1100" b="0" u="none" strike="noStrike" dirty="0">
              <a:solidFill>
                <a:srgbClr val="FFFFFF"/>
              </a:solidFill>
              <a:effectLst/>
              <a:uFillTx/>
              <a:latin typeface="OpenSymbo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3"/>
          <p:cNvSpPr/>
          <p:nvPr/>
        </p:nvSpPr>
        <p:spPr>
          <a:xfrm>
            <a:off x="486607" y="274537"/>
            <a:ext cx="8384143" cy="700605"/>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a:tabLst>
                <a:tab pos="0" algn="l"/>
              </a:tabLst>
            </a:pPr>
            <a:r>
              <a:rPr lang="en-IN" sz="3200" dirty="0">
                <a:effectLst/>
              </a:rPr>
              <a:t>⚠️</a:t>
            </a:r>
            <a:r>
              <a:rPr lang="en-US" sz="3200" b="1" u="none" strike="noStrike" dirty="0">
                <a:solidFill>
                  <a:srgbClr val="FEFCF6"/>
                </a:solidFill>
                <a:effectLst/>
                <a:uFillTx/>
                <a:latin typeface="Algerian" panose="04020705040A02060702" pitchFamily="82" charset="0"/>
              </a:rPr>
              <a:t>PR</a:t>
            </a:r>
            <a:r>
              <a:rPr lang="en-US" sz="3600" b="1" u="none" strike="noStrike" dirty="0">
                <a:solidFill>
                  <a:srgbClr val="FEFCF6"/>
                </a:solidFill>
                <a:effectLst/>
                <a:uFillTx/>
                <a:latin typeface="Algerian" panose="04020705040A02060702" pitchFamily="82" charset="0"/>
              </a:rPr>
              <a:t>OBLE</a:t>
            </a:r>
            <a:r>
              <a:rPr lang="en-US" sz="3200" b="1" u="none" strike="noStrike" dirty="0">
                <a:solidFill>
                  <a:srgbClr val="FEFCF6"/>
                </a:solidFill>
                <a:effectLst/>
                <a:uFillTx/>
                <a:latin typeface="Algerian" panose="04020705040A02060702" pitchFamily="82" charset="0"/>
              </a:rPr>
              <a:t>M STA</a:t>
            </a:r>
            <a:r>
              <a:rPr lang="en-US" sz="3600" b="1" u="none" strike="noStrike" dirty="0">
                <a:solidFill>
                  <a:srgbClr val="FEFCF6"/>
                </a:solidFill>
                <a:effectLst/>
                <a:uFillTx/>
                <a:latin typeface="Algerian" panose="04020705040A02060702" pitchFamily="82" charset="0"/>
              </a:rPr>
              <a:t>TEM</a:t>
            </a:r>
            <a:r>
              <a:rPr lang="en-US" sz="3200" b="1" u="none" strike="noStrike" dirty="0">
                <a:solidFill>
                  <a:srgbClr val="FEFCF6"/>
                </a:solidFill>
                <a:effectLst/>
                <a:uFillTx/>
                <a:latin typeface="Algerian" panose="04020705040A02060702" pitchFamily="82" charset="0"/>
              </a:rPr>
              <a:t>ENT &amp; SOLUTION</a:t>
            </a:r>
            <a:r>
              <a:rPr lang="en-IN" sz="3200" dirty="0">
                <a:effectLst/>
              </a:rPr>
              <a:t> ✅</a:t>
            </a:r>
            <a:endParaRPr lang="en-US" sz="3200" b="1" u="none" strike="noStrike" dirty="0">
              <a:solidFill>
                <a:srgbClr val="FFFFFF"/>
              </a:solidFill>
              <a:effectLst/>
              <a:uFillTx/>
              <a:latin typeface="Algerian" panose="04020705040A02060702" pitchFamily="82" charset="0"/>
            </a:endParaRPr>
          </a:p>
        </p:txBody>
      </p:sp>
      <p:sp>
        <p:nvSpPr>
          <p:cNvPr id="35" name="Rectangle 34"/>
          <p:cNvSpPr/>
          <p:nvPr/>
        </p:nvSpPr>
        <p:spPr>
          <a:xfrm>
            <a:off x="4678679" y="1196514"/>
            <a:ext cx="3581400" cy="3261180"/>
          </a:xfrm>
          <a:prstGeom prst="rect">
            <a:avLst/>
          </a:prstGeom>
          <a:noFill/>
          <a:ln w="0">
            <a:noFill/>
          </a:ln>
        </p:spPr>
        <p:style>
          <a:lnRef idx="0">
            <a:scrgbClr r="0" g="0" b="0"/>
          </a:lnRef>
          <a:fillRef idx="0">
            <a:scrgbClr r="0" g="0" b="0"/>
          </a:fillRef>
          <a:effectRef idx="0">
            <a:scrgbClr r="0" g="0" b="0"/>
          </a:effectRef>
          <a:fontRef idx="minor"/>
        </p:style>
        <p:txBody>
          <a:bodyPr anchor="t">
            <a:normAutofit lnSpcReduction="10000"/>
          </a:bodyPr>
          <a:lstStyle/>
          <a:p>
            <a:pPr defTabSz="914400">
              <a:lnSpc>
                <a:spcPct val="115000"/>
              </a:lnSpc>
              <a:tabLst>
                <a:tab pos="0" algn="l"/>
              </a:tabLst>
            </a:pPr>
            <a:r>
              <a:rPr lang="en-US" sz="2000" b="1" u="none" strike="noStrike" dirty="0">
                <a:solidFill>
                  <a:srgbClr val="FEFCF6"/>
                </a:solidFill>
                <a:effectLst/>
                <a:uFillTx/>
                <a:latin typeface="Merriweather"/>
              </a:rPr>
              <a:t>Proposed Solution:-</a:t>
            </a:r>
            <a:endParaRPr lang="en-US" sz="2000" b="0" u="none" strike="noStrike" dirty="0">
              <a:solidFill>
                <a:srgbClr val="FFFFFF"/>
              </a:solidFill>
              <a:effectLst/>
              <a:uFillTx/>
              <a:latin typeface="OpenSymbol"/>
            </a:endParaRPr>
          </a:p>
          <a:p>
            <a:pPr defTabSz="914400">
              <a:lnSpc>
                <a:spcPct val="115000"/>
              </a:lnSpc>
              <a:tabLst>
                <a:tab pos="0" algn="l"/>
              </a:tabLst>
            </a:pPr>
            <a:endParaRPr lang="en-US" sz="1400" b="0" u="none" strike="noStrike" dirty="0">
              <a:solidFill>
                <a:srgbClr val="FFFFFF"/>
              </a:solidFill>
              <a:effectLst/>
              <a:uFillTx/>
              <a:latin typeface="OpenSymbol"/>
            </a:endParaRPr>
          </a:p>
          <a:p>
            <a:pPr defTabSz="914400">
              <a:lnSpc>
                <a:spcPct val="115000"/>
              </a:lnSpc>
              <a:buClr>
                <a:srgbClr val="FEFCF6"/>
              </a:buClr>
              <a:buFont typeface="Calibri"/>
              <a:buChar char="•"/>
              <a:tabLst>
                <a:tab pos="0" algn="l"/>
              </a:tabLst>
            </a:pPr>
            <a:r>
              <a:rPr lang="en-US" sz="1200" b="0" u="none" strike="noStrike" dirty="0">
                <a:solidFill>
                  <a:srgbClr val="FEFCF6"/>
                </a:solidFill>
                <a:effectLst/>
                <a:uFillTx/>
                <a:latin typeface="Source Serif 4"/>
              </a:rPr>
              <a:t>Develop a Hybrid Movie Recommendation System that combines content-based filtering with collaborative filtering to recommend movies matching both a movie’s content and a user’s personal taste.</a:t>
            </a:r>
            <a:endParaRPr lang="en-US" sz="1200" b="0" u="none" strike="noStrike" dirty="0">
              <a:solidFill>
                <a:srgbClr val="FFFFFF"/>
              </a:solidFill>
              <a:effectLst/>
              <a:uFillTx/>
              <a:latin typeface="OpenSymbol"/>
            </a:endParaRPr>
          </a:p>
          <a:p>
            <a:pPr defTabSz="914400">
              <a:lnSpc>
                <a:spcPct val="115000"/>
              </a:lnSpc>
              <a:tabLst>
                <a:tab pos="0" algn="l"/>
              </a:tabLst>
            </a:pPr>
            <a:endParaRPr lang="en-US" sz="1400" b="0" u="none" strike="noStrike" dirty="0">
              <a:solidFill>
                <a:srgbClr val="FFFFFF"/>
              </a:solidFill>
              <a:effectLst/>
              <a:uFillTx/>
              <a:latin typeface="OpenSymbol"/>
            </a:endParaRPr>
          </a:p>
          <a:p>
            <a:pPr defTabSz="914400">
              <a:lnSpc>
                <a:spcPct val="115000"/>
              </a:lnSpc>
              <a:tabLst>
                <a:tab pos="0" algn="l"/>
              </a:tabLst>
            </a:pPr>
            <a:r>
              <a:rPr lang="en-US" sz="1400" b="1" u="none" strike="noStrike" dirty="0">
                <a:solidFill>
                  <a:srgbClr val="FEFCF6"/>
                </a:solidFill>
                <a:effectLst/>
                <a:uFillTx/>
                <a:latin typeface="Merriweather"/>
              </a:rPr>
              <a:t> </a:t>
            </a:r>
            <a:r>
              <a:rPr lang="en-US" sz="1600" b="1" u="sng" strike="noStrike" dirty="0">
                <a:solidFill>
                  <a:srgbClr val="FEFCF6"/>
                </a:solidFill>
                <a:effectLst/>
                <a:uFillTx/>
                <a:latin typeface="Merriweather"/>
              </a:rPr>
              <a:t>Our Solution:-</a:t>
            </a:r>
            <a:endParaRPr lang="en-US" sz="1600" b="0" u="none" strike="noStrike" dirty="0">
              <a:solidFill>
                <a:srgbClr val="FFFFFF"/>
              </a:solidFill>
              <a:effectLst/>
              <a:uFillTx/>
              <a:latin typeface="OpenSymbol"/>
            </a:endParaRPr>
          </a:p>
          <a:p>
            <a:pPr defTabSz="914400">
              <a:lnSpc>
                <a:spcPct val="115000"/>
              </a:lnSpc>
              <a:buClr>
                <a:srgbClr val="FEFCF6"/>
              </a:buClr>
              <a:buFont typeface="Calibri"/>
              <a:buChar char="•"/>
              <a:tabLst>
                <a:tab pos="0" algn="l"/>
              </a:tabLst>
            </a:pPr>
            <a:r>
              <a:rPr lang="en-US" sz="1200" b="0" u="none" strike="noStrike" dirty="0">
                <a:solidFill>
                  <a:srgbClr val="FEFCF6"/>
                </a:solidFill>
                <a:effectLst/>
                <a:uFillTx/>
                <a:latin typeface="Source Serif 4"/>
              </a:rPr>
              <a:t>Analyze movie features: </a:t>
            </a:r>
            <a:r>
              <a:rPr lang="en-US" sz="1200" b="1" u="none" strike="noStrike" dirty="0">
                <a:solidFill>
                  <a:srgbClr val="FEFCF6"/>
                </a:solidFill>
                <a:effectLst/>
                <a:uFillTx/>
                <a:latin typeface="DM Sans"/>
              </a:rPr>
              <a:t>title, genres, overview, keywords, cast, and crew.</a:t>
            </a:r>
            <a:endParaRPr lang="en-US" sz="1200" b="0" u="none" strike="noStrike" dirty="0">
              <a:solidFill>
                <a:srgbClr val="FFFFFF"/>
              </a:solidFill>
              <a:effectLst/>
              <a:uFillTx/>
              <a:latin typeface="OpenSymbol"/>
            </a:endParaRPr>
          </a:p>
          <a:p>
            <a:pPr defTabSz="914400">
              <a:lnSpc>
                <a:spcPct val="115000"/>
              </a:lnSpc>
              <a:buClr>
                <a:srgbClr val="FEFCF6"/>
              </a:buClr>
              <a:buFont typeface="Calibri"/>
              <a:buChar char="•"/>
              <a:tabLst>
                <a:tab pos="0" algn="l"/>
              </a:tabLst>
            </a:pPr>
            <a:r>
              <a:rPr lang="en-US" sz="1200" b="0" u="none" strike="noStrike" dirty="0">
                <a:solidFill>
                  <a:srgbClr val="FEFCF6"/>
                </a:solidFill>
                <a:effectLst/>
                <a:uFillTx/>
                <a:latin typeface="Source Serif 4"/>
              </a:rPr>
              <a:t>Use vectorization (CountVectorizer) to convert content features into numerical format</a:t>
            </a:r>
            <a:endParaRPr lang="en-US" sz="1200" b="0" u="none" strike="noStrike" dirty="0">
              <a:solidFill>
                <a:srgbClr val="FFFFFF"/>
              </a:solidFill>
              <a:effectLst/>
              <a:uFillTx/>
              <a:latin typeface="OpenSymbol"/>
            </a:endParaRPr>
          </a:p>
          <a:p>
            <a:pPr defTabSz="914400">
              <a:lnSpc>
                <a:spcPct val="115000"/>
              </a:lnSpc>
              <a:buClr>
                <a:srgbClr val="FEFCF6"/>
              </a:buClr>
              <a:buFont typeface="Calibri"/>
              <a:buChar char="•"/>
              <a:tabLst>
                <a:tab pos="0" algn="l"/>
              </a:tabLst>
            </a:pPr>
            <a:r>
              <a:rPr lang="en-US" sz="1200" b="0" u="none" strike="noStrike" dirty="0">
                <a:solidFill>
                  <a:srgbClr val="FEFCF6"/>
                </a:solidFill>
                <a:effectLst/>
                <a:uFillTx/>
                <a:latin typeface="Source Serif 4"/>
              </a:rPr>
              <a:t>Apply cosine similarity for content matching, and matrix factorization (SVD) on user ratings for collaborative filtering</a:t>
            </a:r>
            <a:endParaRPr lang="en-US" sz="1200" b="0" u="none" strike="noStrike" dirty="0">
              <a:solidFill>
                <a:srgbClr val="FFFFFF"/>
              </a:solidFill>
              <a:effectLst/>
              <a:uFillTx/>
              <a:latin typeface="OpenSymbol"/>
            </a:endParaRPr>
          </a:p>
          <a:p>
            <a:pPr defTabSz="914400">
              <a:lnSpc>
                <a:spcPct val="115000"/>
              </a:lnSpc>
              <a:buClr>
                <a:srgbClr val="FEFCF6"/>
              </a:buClr>
              <a:buFont typeface="Calibri"/>
              <a:buChar char="•"/>
              <a:tabLst>
                <a:tab pos="0" algn="l"/>
              </a:tabLst>
            </a:pPr>
            <a:r>
              <a:rPr lang="en-US" sz="1200" b="0" u="none" strike="noStrike" dirty="0">
                <a:solidFill>
                  <a:srgbClr val="FEFCF6"/>
                </a:solidFill>
                <a:effectLst/>
                <a:uFillTx/>
                <a:latin typeface="Source Serif 4"/>
              </a:rPr>
              <a:t>Blend both scores with a weighted hybrid formula to recommend top 5 movies instantly</a:t>
            </a:r>
            <a:endParaRPr lang="en-US" sz="1200" b="0" u="none" strike="noStrike" dirty="0">
              <a:solidFill>
                <a:srgbClr val="FFFFFF"/>
              </a:solidFill>
              <a:effectLst/>
              <a:uFillTx/>
              <a:latin typeface="OpenSymbol"/>
            </a:endParaRPr>
          </a:p>
        </p:txBody>
      </p:sp>
      <p:sp>
        <p:nvSpPr>
          <p:cNvPr id="36" name="Rectangle 35"/>
          <p:cNvSpPr/>
          <p:nvPr/>
        </p:nvSpPr>
        <p:spPr>
          <a:xfrm>
            <a:off x="810810" y="1204140"/>
            <a:ext cx="3464010" cy="33145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15000"/>
              </a:lnSpc>
              <a:tabLst>
                <a:tab pos="0" algn="l"/>
              </a:tabLst>
            </a:pPr>
            <a:r>
              <a:rPr lang="en-US" sz="2000" b="1" strike="noStrike" dirty="0">
                <a:solidFill>
                  <a:srgbClr val="FEFCF6"/>
                </a:solidFill>
                <a:effectLst/>
                <a:uFillTx/>
                <a:latin typeface="Merriweather"/>
              </a:rPr>
              <a:t>Problem Statement</a:t>
            </a:r>
            <a:r>
              <a:rPr lang="en-US" b="0" strike="noStrike" dirty="0">
                <a:solidFill>
                  <a:srgbClr val="FEFCF6"/>
                </a:solidFill>
                <a:effectLst/>
                <a:uFillTx/>
                <a:latin typeface="Merriweather"/>
              </a:rPr>
              <a:t>:-</a:t>
            </a:r>
            <a:endParaRPr lang="en-US" b="0" strike="noStrike" dirty="0">
              <a:solidFill>
                <a:srgbClr val="FFFFFF"/>
              </a:solidFill>
              <a:effectLst/>
              <a:uFillTx/>
              <a:latin typeface="OpenSymbol"/>
            </a:endParaRPr>
          </a:p>
          <a:p>
            <a:pPr defTabSz="914400">
              <a:lnSpc>
                <a:spcPct val="115000"/>
              </a:lnSpc>
              <a:tabLst>
                <a:tab pos="0" algn="l"/>
              </a:tabLst>
            </a:pPr>
            <a:endParaRPr lang="en-US" sz="1400" b="0" u="none" strike="noStrike" dirty="0">
              <a:solidFill>
                <a:srgbClr val="FFFFFF"/>
              </a:solidFill>
              <a:effectLst/>
              <a:uFillTx/>
              <a:latin typeface="OpenSymbol"/>
            </a:endParaRPr>
          </a:p>
          <a:p>
            <a:pPr defTabSz="914400">
              <a:lnSpc>
                <a:spcPct val="115000"/>
              </a:lnSpc>
              <a:buClr>
                <a:srgbClr val="FEFCF6"/>
              </a:buClr>
              <a:buFont typeface="Calibri"/>
              <a:buChar char="•"/>
              <a:tabLst>
                <a:tab pos="0" algn="l"/>
              </a:tabLst>
            </a:pPr>
            <a:r>
              <a:rPr lang="en-US" sz="1200" b="0" u="none" strike="noStrike" dirty="0">
                <a:solidFill>
                  <a:srgbClr val="FEFCF6"/>
                </a:solidFill>
                <a:effectLst/>
                <a:uFillTx/>
                <a:latin typeface="Source Serif 4"/>
              </a:rPr>
              <a:t> With the rapid growth of online movie platforms such as Netflix and Amazon Prime Video, users face difficulty in finding movies that match their interests due to the huge amount of available content</a:t>
            </a:r>
            <a:r>
              <a:rPr lang="en-US" sz="1200" b="0" u="none" strike="noStrike" dirty="0">
                <a:solidFill>
                  <a:srgbClr val="FEFCF6"/>
                </a:solidFill>
                <a:effectLst/>
                <a:uFillTx/>
                <a:latin typeface="DM Sans"/>
              </a:rPr>
              <a:t>.</a:t>
            </a:r>
            <a:endParaRPr lang="en-US" sz="1200" b="0" u="none" strike="noStrike" dirty="0">
              <a:solidFill>
                <a:srgbClr val="FFFFFF"/>
              </a:solidFill>
              <a:effectLst/>
              <a:uFillTx/>
              <a:latin typeface="OpenSymbol"/>
            </a:endParaRPr>
          </a:p>
          <a:p>
            <a:pPr defTabSz="914400">
              <a:lnSpc>
                <a:spcPct val="100000"/>
              </a:lnSpc>
              <a:tabLst>
                <a:tab pos="0" algn="l"/>
              </a:tabLst>
            </a:pPr>
            <a:endParaRPr lang="en-US" sz="1400" b="0" u="none" strike="noStrike" dirty="0">
              <a:solidFill>
                <a:srgbClr val="FFFFFF"/>
              </a:solidFill>
              <a:effectLst/>
              <a:uFillTx/>
              <a:latin typeface="OpenSymbol"/>
            </a:endParaRPr>
          </a:p>
          <a:p>
            <a:pPr defTabSz="914400">
              <a:lnSpc>
                <a:spcPct val="150000"/>
              </a:lnSpc>
              <a:tabLst>
                <a:tab pos="0" algn="l"/>
              </a:tabLst>
            </a:pPr>
            <a:r>
              <a:rPr lang="en-US" sz="1600" b="1" u="sng" strike="noStrike" dirty="0">
                <a:solidFill>
                  <a:srgbClr val="FEFCF6"/>
                </a:solidFill>
                <a:effectLst/>
                <a:uFillTx/>
                <a:latin typeface="Merriweather"/>
              </a:rPr>
              <a:t>Major Problems</a:t>
            </a:r>
            <a:r>
              <a:rPr lang="en-US" sz="1600" b="0" u="sng" strike="noStrike" dirty="0">
                <a:solidFill>
                  <a:srgbClr val="FEFCF6"/>
                </a:solidFill>
                <a:effectLst/>
                <a:uFillTx/>
                <a:latin typeface="DM Sans"/>
              </a:rPr>
              <a:t>:-</a:t>
            </a:r>
            <a:endParaRPr lang="en-US" sz="1600" b="0" u="none" strike="noStrike" dirty="0">
              <a:solidFill>
                <a:srgbClr val="FFFFFF"/>
              </a:solidFill>
              <a:effectLst/>
              <a:uFillTx/>
              <a:latin typeface="OpenSymbol"/>
            </a:endParaRPr>
          </a:p>
          <a:p>
            <a:pPr defTabSz="914400">
              <a:lnSpc>
                <a:spcPct val="115000"/>
              </a:lnSpc>
              <a:buClr>
                <a:srgbClr val="FEFCF6"/>
              </a:buClr>
              <a:buFont typeface="Calibri"/>
              <a:buChar char="•"/>
              <a:tabLst>
                <a:tab pos="0" algn="l"/>
              </a:tabLst>
            </a:pPr>
            <a:r>
              <a:rPr lang="en-US" sz="1200" b="0" u="none" strike="noStrike" dirty="0">
                <a:solidFill>
                  <a:srgbClr val="FEFCF6"/>
                </a:solidFill>
                <a:effectLst/>
                <a:uFillTx/>
                <a:latin typeface="Source Serif 4"/>
              </a:rPr>
              <a:t>Too many movie choices (information overload)</a:t>
            </a:r>
            <a:endParaRPr lang="en-US" sz="1200" b="0" u="none" strike="noStrike" dirty="0">
              <a:solidFill>
                <a:srgbClr val="FFFFFF"/>
              </a:solidFill>
              <a:effectLst/>
              <a:uFillTx/>
              <a:latin typeface="OpenSymbol"/>
            </a:endParaRPr>
          </a:p>
          <a:p>
            <a:pPr defTabSz="914400">
              <a:lnSpc>
                <a:spcPct val="115000"/>
              </a:lnSpc>
              <a:buClr>
                <a:srgbClr val="FEFCF6"/>
              </a:buClr>
              <a:buFont typeface="Calibri"/>
              <a:buChar char="•"/>
              <a:tabLst>
                <a:tab pos="0" algn="l"/>
              </a:tabLst>
            </a:pPr>
            <a:r>
              <a:rPr lang="en-US" sz="1200" b="0" u="none" strike="noStrike" dirty="0">
                <a:solidFill>
                  <a:srgbClr val="FEFCF6"/>
                </a:solidFill>
                <a:effectLst/>
                <a:uFillTx/>
                <a:latin typeface="Source Serif 4"/>
              </a:rPr>
              <a:t>Difficult to discover relevant movies</a:t>
            </a:r>
            <a:endParaRPr lang="en-US" sz="1200" b="0" u="none" strike="noStrike" dirty="0">
              <a:solidFill>
                <a:srgbClr val="FFFFFF"/>
              </a:solidFill>
              <a:effectLst/>
              <a:uFillTx/>
              <a:latin typeface="OpenSymbol"/>
            </a:endParaRPr>
          </a:p>
          <a:p>
            <a:pPr defTabSz="914400">
              <a:lnSpc>
                <a:spcPct val="115000"/>
              </a:lnSpc>
              <a:buClr>
                <a:srgbClr val="FEFCF6"/>
              </a:buClr>
              <a:buFont typeface="Calibri"/>
              <a:buChar char="•"/>
              <a:tabLst>
                <a:tab pos="0" algn="l"/>
              </a:tabLst>
            </a:pPr>
            <a:r>
              <a:rPr lang="en-US" sz="1200" b="0" u="none" strike="noStrike" dirty="0">
                <a:solidFill>
                  <a:srgbClr val="FEFCF6"/>
                </a:solidFill>
                <a:effectLst/>
                <a:uFillTx/>
                <a:latin typeface="Source Serif 4"/>
              </a:rPr>
              <a:t>Time-consuming manual searching</a:t>
            </a:r>
            <a:endParaRPr lang="en-US" sz="1200" b="0" u="none" strike="noStrike" dirty="0">
              <a:solidFill>
                <a:srgbClr val="FFFFFF"/>
              </a:solidFill>
              <a:effectLst/>
              <a:uFillTx/>
              <a:latin typeface="OpenSymbol"/>
            </a:endParaRPr>
          </a:p>
          <a:p>
            <a:pPr defTabSz="914400">
              <a:lnSpc>
                <a:spcPct val="115000"/>
              </a:lnSpc>
              <a:buClr>
                <a:srgbClr val="FEFCF6"/>
              </a:buClr>
              <a:buFont typeface="Calibri"/>
              <a:buChar char="•"/>
              <a:tabLst>
                <a:tab pos="0" algn="l"/>
              </a:tabLst>
            </a:pPr>
            <a:r>
              <a:rPr lang="en-US" sz="1200" b="0" u="none" strike="noStrike" dirty="0">
                <a:solidFill>
                  <a:srgbClr val="FEFCF6"/>
                </a:solidFill>
                <a:effectLst/>
                <a:uFillTx/>
                <a:latin typeface="Source Serif 4"/>
              </a:rPr>
              <a:t>Generic recommendations may not match user preferences</a:t>
            </a:r>
            <a:endParaRPr lang="en-US" sz="1200" b="0" u="none" strike="noStrike" dirty="0">
              <a:solidFill>
                <a:srgbClr val="FFFFFF"/>
              </a:solidFill>
              <a:effectLst/>
              <a:uFillTx/>
              <a:latin typeface="OpenSymbo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Rectangle 37"/>
          <p:cNvSpPr/>
          <p:nvPr/>
        </p:nvSpPr>
        <p:spPr>
          <a:xfrm>
            <a:off x="1819440" y="466560"/>
            <a:ext cx="4323960" cy="45684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endParaRPr lang="en-US" sz="1600" b="0" u="none" strike="noStrike" dirty="0">
              <a:solidFill>
                <a:srgbClr val="FFFFFF"/>
              </a:solidFill>
              <a:effectLst/>
              <a:uFillTx/>
              <a:latin typeface="OpenSymbol"/>
            </a:endParaRPr>
          </a:p>
        </p:txBody>
      </p:sp>
      <p:pic>
        <p:nvPicPr>
          <p:cNvPr id="5" name="Picture 4">
            <a:extLst>
              <a:ext uri="{FF2B5EF4-FFF2-40B4-BE49-F238E27FC236}">
                <a16:creationId xmlns:a16="http://schemas.microsoft.com/office/drawing/2014/main" id="{644256E7-6AB5-7B7A-6908-BC5410389AA9}"/>
              </a:ext>
            </a:extLst>
          </p:cNvPr>
          <p:cNvPicPr>
            <a:picLocks noChangeAspect="1"/>
          </p:cNvPicPr>
          <p:nvPr/>
        </p:nvPicPr>
        <p:blipFill>
          <a:blip r:embed="rId3">
            <a:extLst>
              <a:ext uri="{28A0092B-C50C-407E-A947-70E740481C1C}">
                <a14:useLocalDpi xmlns:a14="http://schemas.microsoft.com/office/drawing/2010/main" val="0"/>
              </a:ext>
            </a:extLst>
          </a:blip>
          <a:srcRect l="6278" t="19107" r="63255" b="71319"/>
          <a:stretch>
            <a:fillRect/>
          </a:stretch>
        </p:blipFill>
        <p:spPr>
          <a:xfrm>
            <a:off x="1051528" y="923400"/>
            <a:ext cx="1777888" cy="413267"/>
          </a:xfrm>
          <a:prstGeom prst="rect">
            <a:avLst/>
          </a:prstGeom>
        </p:spPr>
      </p:pic>
      <p:pic>
        <p:nvPicPr>
          <p:cNvPr id="7" name="Picture 6">
            <a:extLst>
              <a:ext uri="{FF2B5EF4-FFF2-40B4-BE49-F238E27FC236}">
                <a16:creationId xmlns:a16="http://schemas.microsoft.com/office/drawing/2014/main" id="{1565E843-D70E-9CCD-B626-7C0D7F989F3F}"/>
              </a:ext>
            </a:extLst>
          </p:cNvPr>
          <p:cNvPicPr>
            <a:picLocks noChangeAspect="1"/>
          </p:cNvPicPr>
          <p:nvPr/>
        </p:nvPicPr>
        <p:blipFill>
          <a:blip r:embed="rId3" cstate="print">
            <a:extLst>
              <a:ext uri="{28A0092B-C50C-407E-A947-70E740481C1C}">
                <a14:useLocalDpi xmlns:a14="http://schemas.microsoft.com/office/drawing/2010/main" val="0"/>
              </a:ext>
            </a:extLst>
          </a:blip>
          <a:srcRect l="6171" t="31235" r="64358" b="58952"/>
          <a:stretch>
            <a:fillRect/>
          </a:stretch>
        </p:blipFill>
        <p:spPr>
          <a:xfrm>
            <a:off x="1051528" y="1469219"/>
            <a:ext cx="1777888" cy="413267"/>
          </a:xfrm>
          <a:prstGeom prst="rect">
            <a:avLst/>
          </a:prstGeom>
        </p:spPr>
      </p:pic>
      <p:pic>
        <p:nvPicPr>
          <p:cNvPr id="9" name="Picture 8">
            <a:extLst>
              <a:ext uri="{FF2B5EF4-FFF2-40B4-BE49-F238E27FC236}">
                <a16:creationId xmlns:a16="http://schemas.microsoft.com/office/drawing/2014/main" id="{CCFAD0AC-0D78-882B-5719-5A4AE1BB24F4}"/>
              </a:ext>
            </a:extLst>
          </p:cNvPr>
          <p:cNvPicPr>
            <a:picLocks noChangeAspect="1"/>
          </p:cNvPicPr>
          <p:nvPr/>
        </p:nvPicPr>
        <p:blipFill>
          <a:blip r:embed="rId3" cstate="print">
            <a:extLst>
              <a:ext uri="{28A0092B-C50C-407E-A947-70E740481C1C}">
                <a14:useLocalDpi xmlns:a14="http://schemas.microsoft.com/office/drawing/2010/main" val="0"/>
              </a:ext>
            </a:extLst>
          </a:blip>
          <a:srcRect l="6170" t="42364" r="65670" b="47823"/>
          <a:stretch>
            <a:fillRect/>
          </a:stretch>
        </p:blipFill>
        <p:spPr>
          <a:xfrm>
            <a:off x="1051528" y="2015038"/>
            <a:ext cx="1777888" cy="413267"/>
          </a:xfrm>
          <a:prstGeom prst="rect">
            <a:avLst/>
          </a:prstGeom>
        </p:spPr>
      </p:pic>
      <p:pic>
        <p:nvPicPr>
          <p:cNvPr id="11" name="Picture 10">
            <a:extLst>
              <a:ext uri="{FF2B5EF4-FFF2-40B4-BE49-F238E27FC236}">
                <a16:creationId xmlns:a16="http://schemas.microsoft.com/office/drawing/2014/main" id="{BF0FE400-F016-5358-D2B3-F4040D596404}"/>
              </a:ext>
            </a:extLst>
          </p:cNvPr>
          <p:cNvPicPr>
            <a:picLocks noChangeAspect="1"/>
          </p:cNvPicPr>
          <p:nvPr/>
        </p:nvPicPr>
        <p:blipFill>
          <a:blip r:embed="rId3">
            <a:extLst>
              <a:ext uri="{28A0092B-C50C-407E-A947-70E740481C1C}">
                <a14:useLocalDpi xmlns:a14="http://schemas.microsoft.com/office/drawing/2010/main" val="0"/>
              </a:ext>
            </a:extLst>
          </a:blip>
          <a:srcRect l="6171" t="53297" r="63394" b="37127"/>
          <a:stretch>
            <a:fillRect/>
          </a:stretch>
        </p:blipFill>
        <p:spPr>
          <a:xfrm>
            <a:off x="1051529" y="3116352"/>
            <a:ext cx="1777887" cy="413267"/>
          </a:xfrm>
          <a:prstGeom prst="rect">
            <a:avLst/>
          </a:prstGeom>
        </p:spPr>
      </p:pic>
      <p:pic>
        <p:nvPicPr>
          <p:cNvPr id="13" name="Picture 12">
            <a:extLst>
              <a:ext uri="{FF2B5EF4-FFF2-40B4-BE49-F238E27FC236}">
                <a16:creationId xmlns:a16="http://schemas.microsoft.com/office/drawing/2014/main" id="{75B9F488-A3F7-FEF0-4239-91AB061B95E3}"/>
              </a:ext>
            </a:extLst>
          </p:cNvPr>
          <p:cNvPicPr>
            <a:picLocks noChangeAspect="1"/>
          </p:cNvPicPr>
          <p:nvPr/>
        </p:nvPicPr>
        <p:blipFill>
          <a:blip r:embed="rId3" cstate="print">
            <a:extLst>
              <a:ext uri="{28A0092B-C50C-407E-A947-70E740481C1C}">
                <a14:useLocalDpi xmlns:a14="http://schemas.microsoft.com/office/drawing/2010/main" val="0"/>
              </a:ext>
            </a:extLst>
          </a:blip>
          <a:srcRect l="6171" t="63596" r="63683" b="25420"/>
          <a:stretch>
            <a:fillRect/>
          </a:stretch>
        </p:blipFill>
        <p:spPr>
          <a:xfrm>
            <a:off x="1051528" y="2565695"/>
            <a:ext cx="1777888" cy="413267"/>
          </a:xfrm>
          <a:prstGeom prst="rect">
            <a:avLst/>
          </a:prstGeom>
        </p:spPr>
      </p:pic>
      <p:pic>
        <p:nvPicPr>
          <p:cNvPr id="15" name="Picture 14">
            <a:extLst>
              <a:ext uri="{FF2B5EF4-FFF2-40B4-BE49-F238E27FC236}">
                <a16:creationId xmlns:a16="http://schemas.microsoft.com/office/drawing/2014/main" id="{2EB1096E-D16F-3F2C-D6A1-6F605978CDCA}"/>
              </a:ext>
            </a:extLst>
          </p:cNvPr>
          <p:cNvPicPr>
            <a:picLocks noChangeAspect="1"/>
          </p:cNvPicPr>
          <p:nvPr/>
        </p:nvPicPr>
        <p:blipFill>
          <a:blip r:embed="rId3" cstate="print">
            <a:extLst>
              <a:ext uri="{28A0092B-C50C-407E-A947-70E740481C1C}">
                <a14:useLocalDpi xmlns:a14="http://schemas.microsoft.com/office/drawing/2010/main" val="0"/>
              </a:ext>
            </a:extLst>
          </a:blip>
          <a:srcRect l="6171" t="74724" r="63683" b="14291"/>
          <a:stretch>
            <a:fillRect/>
          </a:stretch>
        </p:blipFill>
        <p:spPr>
          <a:xfrm>
            <a:off x="1051528" y="3667009"/>
            <a:ext cx="1777888" cy="413267"/>
          </a:xfrm>
          <a:prstGeom prst="rect">
            <a:avLst/>
          </a:prstGeom>
        </p:spPr>
      </p:pic>
      <p:pic>
        <p:nvPicPr>
          <p:cNvPr id="17" name="Picture 16">
            <a:extLst>
              <a:ext uri="{FF2B5EF4-FFF2-40B4-BE49-F238E27FC236}">
                <a16:creationId xmlns:a16="http://schemas.microsoft.com/office/drawing/2014/main" id="{FD0C60AF-DE09-7922-E668-71239D41A22C}"/>
              </a:ext>
            </a:extLst>
          </p:cNvPr>
          <p:cNvPicPr>
            <a:picLocks noChangeAspect="1"/>
          </p:cNvPicPr>
          <p:nvPr/>
        </p:nvPicPr>
        <p:blipFill>
          <a:blip r:embed="rId3" cstate="print">
            <a:extLst>
              <a:ext uri="{28A0092B-C50C-407E-A947-70E740481C1C}">
                <a14:useLocalDpi xmlns:a14="http://schemas.microsoft.com/office/drawing/2010/main" val="0"/>
              </a:ext>
            </a:extLst>
          </a:blip>
          <a:srcRect l="6171" t="85708" r="63683" b="3018"/>
          <a:stretch>
            <a:fillRect/>
          </a:stretch>
        </p:blipFill>
        <p:spPr>
          <a:xfrm>
            <a:off x="1057037" y="4217666"/>
            <a:ext cx="1777887" cy="413267"/>
          </a:xfrm>
          <a:prstGeom prst="rect">
            <a:avLst/>
          </a:prstGeom>
        </p:spPr>
      </p:pic>
      <p:sp>
        <p:nvSpPr>
          <p:cNvPr id="22" name="TextBox 21">
            <a:extLst>
              <a:ext uri="{FF2B5EF4-FFF2-40B4-BE49-F238E27FC236}">
                <a16:creationId xmlns:a16="http://schemas.microsoft.com/office/drawing/2014/main" id="{83BE0AFA-271B-9F12-F650-462225589DC3}"/>
              </a:ext>
            </a:extLst>
          </p:cNvPr>
          <p:cNvSpPr txBox="1"/>
          <p:nvPr/>
        </p:nvSpPr>
        <p:spPr>
          <a:xfrm>
            <a:off x="469650" y="134841"/>
            <a:ext cx="7023540" cy="646331"/>
          </a:xfrm>
          <a:prstGeom prst="rect">
            <a:avLst/>
          </a:prstGeom>
          <a:noFill/>
        </p:spPr>
        <p:txBody>
          <a:bodyPr wrap="square" rtlCol="0">
            <a:spAutoFit/>
          </a:bodyPr>
          <a:lstStyle/>
          <a:p>
            <a:r>
              <a:rPr lang="en-IN" sz="3200" dirty="0">
                <a:effectLst/>
              </a:rPr>
              <a:t>🛠️</a:t>
            </a:r>
            <a:r>
              <a:rPr lang="en-US" sz="3200" b="1" dirty="0">
                <a:latin typeface="Algerian" panose="04020705040A02060702" pitchFamily="82" charset="0"/>
              </a:rPr>
              <a:t>TOOLS $ </a:t>
            </a:r>
            <a:r>
              <a:rPr lang="en-US" sz="3600" b="1" dirty="0">
                <a:latin typeface="Algerian" panose="04020705040A02060702" pitchFamily="82" charset="0"/>
              </a:rPr>
              <a:t>TECHNOLOGIES USED</a:t>
            </a:r>
            <a:endParaRPr lang="en-IN" sz="3600" b="1" dirty="0">
              <a:latin typeface="Algerian" panose="04020705040A02060702" pitchFamily="82" charset="0"/>
            </a:endParaRPr>
          </a:p>
        </p:txBody>
      </p:sp>
      <p:sp>
        <p:nvSpPr>
          <p:cNvPr id="24" name="TextBox 23">
            <a:extLst>
              <a:ext uri="{FF2B5EF4-FFF2-40B4-BE49-F238E27FC236}">
                <a16:creationId xmlns:a16="http://schemas.microsoft.com/office/drawing/2014/main" id="{F7506005-8E22-F803-5896-4A1835156FCA}"/>
              </a:ext>
            </a:extLst>
          </p:cNvPr>
          <p:cNvSpPr txBox="1"/>
          <p:nvPr/>
        </p:nvSpPr>
        <p:spPr>
          <a:xfrm>
            <a:off x="2933494" y="845281"/>
            <a:ext cx="5153469" cy="3785652"/>
          </a:xfrm>
          <a:prstGeom prst="rect">
            <a:avLst/>
          </a:prstGeom>
          <a:noFill/>
        </p:spPr>
        <p:txBody>
          <a:bodyPr wrap="square" rtlCol="0">
            <a:spAutoFit/>
          </a:bodyPr>
          <a:lstStyle/>
          <a:p>
            <a:r>
              <a:rPr lang="en-US" sz="1200" dirty="0"/>
              <a:t>Core programming language used for data processing, model building, and web application development.</a:t>
            </a:r>
          </a:p>
          <a:p>
            <a:endParaRPr lang="en-US" sz="1200" dirty="0"/>
          </a:p>
          <a:p>
            <a:r>
              <a:rPr lang="en-US" sz="1200" dirty="0"/>
              <a:t>Used for data manipulation, cleaning, and analysis of movie datasets.</a:t>
            </a:r>
          </a:p>
          <a:p>
            <a:endParaRPr lang="en-US" sz="1200" dirty="0"/>
          </a:p>
          <a:p>
            <a:endParaRPr lang="en-US" sz="1200" dirty="0"/>
          </a:p>
          <a:p>
            <a:r>
              <a:rPr lang="en-US" sz="1200" dirty="0"/>
              <a:t>Provides support for large, multi-dimensional arrays and numerical operations.</a:t>
            </a:r>
          </a:p>
          <a:p>
            <a:endParaRPr lang="en-US" sz="1200" dirty="0"/>
          </a:p>
          <a:p>
            <a:r>
              <a:rPr lang="en-US" sz="1200" dirty="0"/>
              <a:t>Framework used to build the interactive web interface for the recommendation system.</a:t>
            </a:r>
          </a:p>
          <a:p>
            <a:endParaRPr lang="en-US" sz="1200" dirty="0"/>
          </a:p>
          <a:p>
            <a:r>
              <a:rPr lang="en-US" sz="1200" dirty="0"/>
              <a:t>Used for Count Vectorizer, Cosine Similarity, and SVD-based matrix factorization powering the hybrid model.</a:t>
            </a:r>
          </a:p>
          <a:p>
            <a:endParaRPr lang="en-US" sz="1200" dirty="0"/>
          </a:p>
          <a:p>
            <a:r>
              <a:rPr lang="en-US" sz="1200" dirty="0"/>
              <a:t>Used to fetch movie metadata such as posters, titles, genres, and overviews.</a:t>
            </a:r>
          </a:p>
          <a:p>
            <a:endParaRPr lang="en-US" sz="1200" dirty="0"/>
          </a:p>
          <a:p>
            <a:r>
              <a:rPr lang="en-US" sz="1200" dirty="0"/>
              <a:t>Content-based algorithm used to measure similarity between movies based on their features</a:t>
            </a:r>
            <a:r>
              <a:rPr lang="en-US" sz="800" dirty="0"/>
              <a:t>.</a:t>
            </a:r>
            <a:endParaRPr lang="en-IN"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469650" y="190000"/>
            <a:ext cx="600000" cy="600000"/>
          </a:xfrm>
          <a:prstGeom prst="roundRect">
            <a:avLst>
              <a:gd name="adj" fmla="val 28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sitemap_white.png"/>
          <p:cNvPicPr>
            <a:picLocks noChangeAspect="1"/>
          </p:cNvPicPr>
          <p:nvPr/>
        </p:nvPicPr>
        <p:blipFill>
          <a:blip r:embed="rId2"/>
          <a:stretch>
            <a:fillRect/>
          </a:stretch>
        </p:blipFill>
        <p:spPr>
          <a:xfrm>
            <a:off x="599650" y="320000"/>
            <a:ext cx="340000" cy="340000"/>
          </a:xfrm>
          <a:prstGeom prst="rect">
            <a:avLst/>
          </a:prstGeom>
        </p:spPr>
      </p:pic>
      <p:sp>
        <p:nvSpPr>
          <p:cNvPr id="4" name="TextBox 3"/>
          <p:cNvSpPr txBox="1"/>
          <p:nvPr/>
        </p:nvSpPr>
        <p:spPr>
          <a:xfrm>
            <a:off x="1249650" y="190000"/>
            <a:ext cx="7644000" cy="600000"/>
          </a:xfrm>
          <a:prstGeom prst="rect">
            <a:avLst/>
          </a:prstGeom>
          <a:noFill/>
        </p:spPr>
        <p:txBody>
          <a:bodyPr wrap="square" anchor="ctr">
            <a:spAutoFit/>
          </a:bodyPr>
          <a:lstStyle/>
          <a:p>
            <a:r>
              <a:rPr sz="2900" b="1" i="0">
                <a:solidFill>
                  <a:srgbClr val="FEFCF6"/>
                </a:solidFill>
                <a:latin typeface="Algerian"/>
              </a:rPr>
              <a:t>SYSTEM ARCHITECTURE</a:t>
            </a:r>
          </a:p>
        </p:txBody>
      </p:sp>
      <p:sp>
        <p:nvSpPr>
          <p:cNvPr id="5" name="Rounded Rectangle 4"/>
          <p:cNvSpPr/>
          <p:nvPr/>
        </p:nvSpPr>
        <p:spPr>
          <a:xfrm>
            <a:off x="2092000" y="1200000"/>
            <a:ext cx="1600000" cy="1350000"/>
          </a:xfrm>
          <a:prstGeom prst="roundRect">
            <a:avLst>
              <a:gd name="adj" fmla="val 10000"/>
            </a:avLst>
          </a:prstGeom>
          <a:solidFill>
            <a:srgbClr val="3D332C"/>
          </a:solidFill>
          <a:ln>
            <a:noFill/>
          </a:ln>
          <a:effectLst/>
        </p:spPr>
        <p:style>
          <a:lnRef idx="1">
            <a:schemeClr val="accent1"/>
          </a:lnRef>
          <a:fillRef idx="3">
            <a:schemeClr val="accent1"/>
          </a:fillRef>
          <a:effectRef idx="2">
            <a:schemeClr val="accent1"/>
          </a:effectRef>
          <a:fontRef idx="minor">
            <a:schemeClr val="lt1"/>
          </a:fontRef>
        </p:style>
        <p:txBody>
          <a:bodyPr rtlCol="0" anchor="b" wrap="square" lIns="60000" rIns="60000" tIns="0" bIns="70000"/>
          <a:lstStyle/>
          <a:p>
            <a:pPr algn="ctr"/>
            <a:r>
              <a:rPr sz="1100" b="1" i="0">
                <a:solidFill>
                  <a:srgbClr val="FEFCF6"/>
                </a:solidFill>
                <a:latin typeface="Merriweather"/>
              </a:rPr>
              <a:t>Data Collection</a:t>
            </a:r>
          </a:p>
          <a:p>
            <a:pPr algn="ctr"/>
            <a:r>
              <a:rPr sz="900" b="0" i="0">
                <a:solidFill>
                  <a:srgbClr val="FEFCF6"/>
                </a:solidFill>
                <a:latin typeface="Source Serif 4"/>
              </a:rPr>
              <a:t>Movies + user ratings</a:t>
            </a:r>
          </a:p>
        </p:txBody>
      </p:sp>
      <p:pic>
        <p:nvPicPr>
          <p:cNvPr id="6" name="Picture 5" descr="database_red.png"/>
          <p:cNvPicPr>
            <a:picLocks noChangeAspect="1"/>
          </p:cNvPicPr>
          <p:nvPr/>
        </p:nvPicPr>
        <p:blipFill>
          <a:blip r:embed="rId3"/>
          <a:stretch>
            <a:fillRect/>
          </a:stretch>
        </p:blipFill>
        <p:spPr>
          <a:xfrm>
            <a:off x="2722000" y="1320000"/>
            <a:ext cx="340000" cy="340000"/>
          </a:xfrm>
          <a:prstGeom prst="rect">
            <a:avLst/>
          </a:prstGeom>
        </p:spPr>
      </p:pic>
      <p:sp>
        <p:nvSpPr>
          <p:cNvPr id="7" name="Chevron 6"/>
          <p:cNvSpPr/>
          <p:nvPr/>
        </p:nvSpPr>
        <p:spPr>
          <a:xfrm>
            <a:off x="3700000" y="1785000"/>
            <a:ext cx="64000" cy="180000"/>
          </a:xfrm>
          <a:prstGeom prst="chevron">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772000" y="1200000"/>
            <a:ext cx="1600000" cy="1350000"/>
          </a:xfrm>
          <a:prstGeom prst="roundRect">
            <a:avLst>
              <a:gd name="adj" fmla="val 10000"/>
            </a:avLst>
          </a:prstGeom>
          <a:solidFill>
            <a:srgbClr val="3D332C"/>
          </a:solidFill>
          <a:ln>
            <a:noFill/>
          </a:ln>
          <a:effectLst/>
        </p:spPr>
        <p:style>
          <a:lnRef idx="1">
            <a:schemeClr val="accent1"/>
          </a:lnRef>
          <a:fillRef idx="3">
            <a:schemeClr val="accent1"/>
          </a:fillRef>
          <a:effectRef idx="2">
            <a:schemeClr val="accent1"/>
          </a:effectRef>
          <a:fontRef idx="minor">
            <a:schemeClr val="lt1"/>
          </a:fontRef>
        </p:style>
        <p:txBody>
          <a:bodyPr rtlCol="0" anchor="b" wrap="square" lIns="60000" rIns="60000" tIns="0" bIns="70000"/>
          <a:lstStyle/>
          <a:p>
            <a:pPr algn="ctr"/>
            <a:r>
              <a:rPr sz="1100" b="1" i="0">
                <a:solidFill>
                  <a:srgbClr val="FEFCF6"/>
                </a:solidFill>
                <a:latin typeface="Merriweather"/>
              </a:rPr>
              <a:t>Data Cleaning</a:t>
            </a:r>
          </a:p>
          <a:p>
            <a:pPr algn="ctr"/>
            <a:r>
              <a:rPr sz="900" b="0" i="0">
                <a:solidFill>
                  <a:srgbClr val="FEFCF6"/>
                </a:solidFill>
                <a:latin typeface="Source Serif 4"/>
              </a:rPr>
              <a:t>Merge &amp; clean fields</a:t>
            </a:r>
          </a:p>
        </p:txBody>
      </p:sp>
      <p:pic>
        <p:nvPicPr>
          <p:cNvPr id="9" name="Picture 8" descr="filter_red.png"/>
          <p:cNvPicPr>
            <a:picLocks noChangeAspect="1"/>
          </p:cNvPicPr>
          <p:nvPr/>
        </p:nvPicPr>
        <p:blipFill>
          <a:blip r:embed="rId4"/>
          <a:stretch>
            <a:fillRect/>
          </a:stretch>
        </p:blipFill>
        <p:spPr>
          <a:xfrm>
            <a:off x="4402000" y="1320000"/>
            <a:ext cx="340000" cy="340000"/>
          </a:xfrm>
          <a:prstGeom prst="rect">
            <a:avLst/>
          </a:prstGeom>
        </p:spPr>
      </p:pic>
      <p:sp>
        <p:nvSpPr>
          <p:cNvPr id="10" name="Chevron 9"/>
          <p:cNvSpPr/>
          <p:nvPr/>
        </p:nvSpPr>
        <p:spPr>
          <a:xfrm>
            <a:off x="5380000" y="1785000"/>
            <a:ext cx="64000" cy="180000"/>
          </a:xfrm>
          <a:prstGeom prst="chevron">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452000" y="1200000"/>
            <a:ext cx="1600000" cy="1350000"/>
          </a:xfrm>
          <a:prstGeom prst="roundRect">
            <a:avLst>
              <a:gd name="adj" fmla="val 10000"/>
            </a:avLst>
          </a:prstGeom>
          <a:solidFill>
            <a:srgbClr val="3D332C"/>
          </a:solidFill>
          <a:ln>
            <a:noFill/>
          </a:ln>
          <a:effectLst/>
        </p:spPr>
        <p:style>
          <a:lnRef idx="1">
            <a:schemeClr val="accent1"/>
          </a:lnRef>
          <a:fillRef idx="3">
            <a:schemeClr val="accent1"/>
          </a:fillRef>
          <a:effectRef idx="2">
            <a:schemeClr val="accent1"/>
          </a:effectRef>
          <a:fontRef idx="minor">
            <a:schemeClr val="lt1"/>
          </a:fontRef>
        </p:style>
        <p:txBody>
          <a:bodyPr rtlCol="0" anchor="b" wrap="square" lIns="60000" rIns="60000" tIns="0" bIns="70000"/>
          <a:lstStyle/>
          <a:p>
            <a:pPr algn="ctr"/>
            <a:r>
              <a:rPr sz="1100" b="1" i="0">
                <a:solidFill>
                  <a:srgbClr val="FEFCF6"/>
                </a:solidFill>
                <a:latin typeface="Merriweather"/>
              </a:rPr>
              <a:t>Feature Extraction</a:t>
            </a:r>
          </a:p>
          <a:p>
            <a:pPr algn="ctr"/>
            <a:r>
              <a:rPr sz="900" b="0" i="0">
                <a:solidFill>
                  <a:srgbClr val="FEFCF6"/>
                </a:solidFill>
                <a:latin typeface="Source Serif 4"/>
              </a:rPr>
              <a:t>Tags from metadata</a:t>
            </a:r>
          </a:p>
        </p:txBody>
      </p:sp>
      <p:pic>
        <p:nvPicPr>
          <p:cNvPr id="12" name="Picture 11" descr="tags_red.png"/>
          <p:cNvPicPr>
            <a:picLocks noChangeAspect="1"/>
          </p:cNvPicPr>
          <p:nvPr/>
        </p:nvPicPr>
        <p:blipFill>
          <a:blip r:embed="rId5"/>
          <a:stretch>
            <a:fillRect/>
          </a:stretch>
        </p:blipFill>
        <p:spPr>
          <a:xfrm>
            <a:off x="6082000" y="1320000"/>
            <a:ext cx="340000" cy="340000"/>
          </a:xfrm>
          <a:prstGeom prst="rect">
            <a:avLst/>
          </a:prstGeom>
        </p:spPr>
      </p:pic>
      <p:sp>
        <p:nvSpPr>
          <p:cNvPr id="13" name="Rounded Rectangle 12"/>
          <p:cNvSpPr/>
          <p:nvPr/>
        </p:nvSpPr>
        <p:spPr>
          <a:xfrm>
            <a:off x="2092000" y="2820000"/>
            <a:ext cx="1600000" cy="1350000"/>
          </a:xfrm>
          <a:prstGeom prst="roundRect">
            <a:avLst>
              <a:gd name="adj" fmla="val 10000"/>
            </a:avLst>
          </a:prstGeom>
          <a:solidFill>
            <a:srgbClr val="3D332C"/>
          </a:solidFill>
          <a:ln>
            <a:noFill/>
          </a:ln>
          <a:effectLst/>
        </p:spPr>
        <p:style>
          <a:lnRef idx="1">
            <a:schemeClr val="accent1"/>
          </a:lnRef>
          <a:fillRef idx="3">
            <a:schemeClr val="accent1"/>
          </a:fillRef>
          <a:effectRef idx="2">
            <a:schemeClr val="accent1"/>
          </a:effectRef>
          <a:fontRef idx="minor">
            <a:schemeClr val="lt1"/>
          </a:fontRef>
        </p:style>
        <p:txBody>
          <a:bodyPr rtlCol="0" anchor="b" wrap="square" lIns="60000" rIns="60000" tIns="0" bIns="70000"/>
          <a:lstStyle/>
          <a:p>
            <a:pPr algn="ctr"/>
            <a:r>
              <a:rPr sz="1100" b="1" i="0">
                <a:solidFill>
                  <a:srgbClr val="FEFCF6"/>
                </a:solidFill>
                <a:latin typeface="Merriweather"/>
              </a:rPr>
              <a:t>Vectorization</a:t>
            </a:r>
          </a:p>
          <a:p>
            <a:pPr algn="ctr"/>
            <a:r>
              <a:rPr sz="900" b="0" i="0">
                <a:solidFill>
                  <a:srgbClr val="FEFCF6"/>
                </a:solidFill>
                <a:latin typeface="Source Serif 4"/>
              </a:rPr>
              <a:t>Count Vectorizer</a:t>
            </a:r>
          </a:p>
        </p:txBody>
      </p:sp>
      <p:pic>
        <p:nvPicPr>
          <p:cNvPr id="14" name="Picture 13" descr="font_red.png"/>
          <p:cNvPicPr>
            <a:picLocks noChangeAspect="1"/>
          </p:cNvPicPr>
          <p:nvPr/>
        </p:nvPicPr>
        <p:blipFill>
          <a:blip r:embed="rId6"/>
          <a:stretch>
            <a:fillRect/>
          </a:stretch>
        </p:blipFill>
        <p:spPr>
          <a:xfrm>
            <a:off x="2722000" y="2940000"/>
            <a:ext cx="340000" cy="340000"/>
          </a:xfrm>
          <a:prstGeom prst="rect">
            <a:avLst/>
          </a:prstGeom>
        </p:spPr>
      </p:pic>
      <p:sp>
        <p:nvSpPr>
          <p:cNvPr id="15" name="Chevron 14"/>
          <p:cNvSpPr/>
          <p:nvPr/>
        </p:nvSpPr>
        <p:spPr>
          <a:xfrm>
            <a:off x="3700000" y="3405000"/>
            <a:ext cx="64000" cy="180000"/>
          </a:xfrm>
          <a:prstGeom prst="chevron">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772000" y="2820000"/>
            <a:ext cx="1600000" cy="1350000"/>
          </a:xfrm>
          <a:prstGeom prst="roundRect">
            <a:avLst>
              <a:gd name="adj" fmla="val 10000"/>
            </a:avLst>
          </a:prstGeom>
          <a:solidFill>
            <a:srgbClr val="3D332C"/>
          </a:solidFill>
          <a:ln>
            <a:noFill/>
          </a:ln>
          <a:effectLst/>
        </p:spPr>
        <p:style>
          <a:lnRef idx="1">
            <a:schemeClr val="accent1"/>
          </a:lnRef>
          <a:fillRef idx="3">
            <a:schemeClr val="accent1"/>
          </a:fillRef>
          <a:effectRef idx="2">
            <a:schemeClr val="accent1"/>
          </a:effectRef>
          <a:fontRef idx="minor">
            <a:schemeClr val="lt1"/>
          </a:fontRef>
        </p:style>
        <p:txBody>
          <a:bodyPr rtlCol="0" anchor="b" wrap="square" lIns="60000" rIns="60000" tIns="0" bIns="70000"/>
          <a:lstStyle/>
          <a:p>
            <a:pPr algn="ctr"/>
            <a:r>
              <a:rPr sz="1100" b="1" i="0">
                <a:solidFill>
                  <a:srgbClr val="FEFCF6"/>
                </a:solidFill>
                <a:latin typeface="Merriweather"/>
              </a:rPr>
              <a:t>Dual Scoring</a:t>
            </a:r>
          </a:p>
          <a:p>
            <a:pPr algn="ctr"/>
            <a:r>
              <a:rPr sz="900" b="0" i="0">
                <a:solidFill>
                  <a:srgbClr val="FEFCF6"/>
                </a:solidFill>
                <a:latin typeface="Source Serif 4"/>
              </a:rPr>
              <a:t>Content + Collaborative</a:t>
            </a:r>
          </a:p>
        </p:txBody>
      </p:sp>
      <p:pic>
        <p:nvPicPr>
          <p:cNvPr id="17" name="Picture 16" descr="sliders_red.png"/>
          <p:cNvPicPr>
            <a:picLocks noChangeAspect="1"/>
          </p:cNvPicPr>
          <p:nvPr/>
        </p:nvPicPr>
        <p:blipFill>
          <a:blip r:embed="rId7"/>
          <a:stretch>
            <a:fillRect/>
          </a:stretch>
        </p:blipFill>
        <p:spPr>
          <a:xfrm>
            <a:off x="4402000" y="2940000"/>
            <a:ext cx="340000" cy="340000"/>
          </a:xfrm>
          <a:prstGeom prst="rect">
            <a:avLst/>
          </a:prstGeom>
        </p:spPr>
      </p:pic>
      <p:sp>
        <p:nvSpPr>
          <p:cNvPr id="18" name="Chevron 17"/>
          <p:cNvSpPr/>
          <p:nvPr/>
        </p:nvSpPr>
        <p:spPr>
          <a:xfrm>
            <a:off x="5380000" y="3405000"/>
            <a:ext cx="64000" cy="180000"/>
          </a:xfrm>
          <a:prstGeom prst="chevron">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452000" y="2820000"/>
            <a:ext cx="1600000" cy="1350000"/>
          </a:xfrm>
          <a:prstGeom prst="roundRect">
            <a:avLst>
              <a:gd name="adj" fmla="val 10000"/>
            </a:avLst>
          </a:prstGeom>
          <a:solidFill>
            <a:srgbClr val="3D332C"/>
          </a:solidFill>
          <a:ln>
            <a:noFill/>
          </a:ln>
          <a:effectLst/>
        </p:spPr>
        <p:style>
          <a:lnRef idx="1">
            <a:schemeClr val="accent1"/>
          </a:lnRef>
          <a:fillRef idx="3">
            <a:schemeClr val="accent1"/>
          </a:fillRef>
          <a:effectRef idx="2">
            <a:schemeClr val="accent1"/>
          </a:effectRef>
          <a:fontRef idx="minor">
            <a:schemeClr val="lt1"/>
          </a:fontRef>
        </p:style>
        <p:txBody>
          <a:bodyPr rtlCol="0" anchor="b" wrap="square" lIns="60000" rIns="60000" tIns="0" bIns="70000"/>
          <a:lstStyle/>
          <a:p>
            <a:pPr algn="ctr"/>
            <a:r>
              <a:rPr sz="1100" b="1" i="0">
                <a:solidFill>
                  <a:srgbClr val="FEFCF6"/>
                </a:solidFill>
                <a:latin typeface="Merriweather"/>
              </a:rPr>
              <a:t>Hybrid Fusion</a:t>
            </a:r>
          </a:p>
          <a:p>
            <a:pPr algn="ctr"/>
            <a:r>
              <a:rPr sz="900" b="0" i="0">
                <a:solidFill>
                  <a:srgbClr val="FEFCF6"/>
                </a:solidFill>
                <a:latin typeface="Source Serif 4"/>
              </a:rPr>
              <a:t>Weighted top-5 output</a:t>
            </a:r>
          </a:p>
        </p:txBody>
      </p:sp>
      <p:pic>
        <p:nvPicPr>
          <p:cNvPr id="20" name="Picture 19" descr="codebranch_red.png"/>
          <p:cNvPicPr>
            <a:picLocks noChangeAspect="1"/>
          </p:cNvPicPr>
          <p:nvPr/>
        </p:nvPicPr>
        <p:blipFill>
          <a:blip r:embed="rId8"/>
          <a:stretch>
            <a:fillRect/>
          </a:stretch>
        </p:blipFill>
        <p:spPr>
          <a:xfrm>
            <a:off x="6082000" y="2940000"/>
            <a:ext cx="340000" cy="340000"/>
          </a:xfrm>
          <a:prstGeom prst="rect">
            <a:avLst/>
          </a:prstGeom>
        </p:spPr>
      </p:pic>
      <p:sp>
        <p:nvSpPr>
          <p:cNvPr id="21" name="TextBox 20"/>
          <p:cNvSpPr txBox="1"/>
          <p:nvPr/>
        </p:nvSpPr>
        <p:spPr>
          <a:xfrm>
            <a:off x="469650" y="4700000"/>
            <a:ext cx="8204000" cy="350000"/>
          </a:xfrm>
          <a:prstGeom prst="rect">
            <a:avLst/>
          </a:prstGeom>
          <a:noFill/>
        </p:spPr>
        <p:txBody>
          <a:bodyPr wrap="square">
            <a:spAutoFit/>
          </a:bodyPr>
          <a:lstStyle/>
          <a:p>
            <a:pPr algn="l"/>
            <a:r>
              <a:rPr sz="1000" b="0" i="0">
                <a:solidFill>
                  <a:srgbClr val="B8AEA4"/>
                </a:solidFill>
                <a:latin typeface="Source Serif 4"/>
              </a:rPr>
              <a:t>A hybrid pipeline: content-based similarity and collaborative filtering run in parallel, then
blend into a single weighted score — giving more accurate, personalized recommendations.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469650" y="190000"/>
            <a:ext cx="600000" cy="600000"/>
          </a:xfrm>
          <a:prstGeom prst="roundRect">
            <a:avLst>
              <a:gd name="adj" fmla="val 28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atabase_white.png"/>
          <p:cNvPicPr>
            <a:picLocks noChangeAspect="1"/>
          </p:cNvPicPr>
          <p:nvPr/>
        </p:nvPicPr>
        <p:blipFill>
          <a:blip r:embed="rId2"/>
          <a:stretch>
            <a:fillRect/>
          </a:stretch>
        </p:blipFill>
        <p:spPr>
          <a:xfrm>
            <a:off x="599650" y="320000"/>
            <a:ext cx="340000" cy="340000"/>
          </a:xfrm>
          <a:prstGeom prst="rect">
            <a:avLst/>
          </a:prstGeom>
        </p:spPr>
      </p:pic>
      <p:sp>
        <p:nvSpPr>
          <p:cNvPr id="4" name="TextBox 3"/>
          <p:cNvSpPr txBox="1"/>
          <p:nvPr/>
        </p:nvSpPr>
        <p:spPr>
          <a:xfrm>
            <a:off x="1249650" y="190000"/>
            <a:ext cx="7644000" cy="600000"/>
          </a:xfrm>
          <a:prstGeom prst="rect">
            <a:avLst/>
          </a:prstGeom>
          <a:noFill/>
        </p:spPr>
        <p:txBody>
          <a:bodyPr wrap="square" anchor="ctr">
            <a:spAutoFit/>
          </a:bodyPr>
          <a:lstStyle/>
          <a:p>
            <a:r>
              <a:rPr sz="2900" b="1" i="0">
                <a:solidFill>
                  <a:srgbClr val="FEFCF6"/>
                </a:solidFill>
                <a:latin typeface="Algerian"/>
              </a:rPr>
              <a:t>DATASET DESCRIPTION</a:t>
            </a:r>
          </a:p>
        </p:txBody>
      </p:sp>
      <p:pic>
        <p:nvPicPr>
          <p:cNvPr id="5" name="Picture 4" descr="info_white.png"/>
          <p:cNvPicPr>
            <a:picLocks noChangeAspect="1"/>
          </p:cNvPicPr>
          <p:nvPr/>
        </p:nvPicPr>
        <p:blipFill>
          <a:blip r:embed="rId3"/>
          <a:stretch>
            <a:fillRect/>
          </a:stretch>
        </p:blipFill>
        <p:spPr>
          <a:xfrm>
            <a:off x="469650" y="1200000"/>
            <a:ext cx="230000" cy="230000"/>
          </a:xfrm>
          <a:prstGeom prst="rect">
            <a:avLst/>
          </a:prstGeom>
        </p:spPr>
      </p:pic>
      <p:sp>
        <p:nvSpPr>
          <p:cNvPr id="6" name="TextBox 5"/>
          <p:cNvSpPr txBox="1"/>
          <p:nvPr/>
        </p:nvSpPr>
        <p:spPr>
          <a:xfrm>
            <a:off x="759650" y="1150000"/>
            <a:ext cx="3800000" cy="400000"/>
          </a:xfrm>
          <a:prstGeom prst="rect">
            <a:avLst/>
          </a:prstGeom>
          <a:noFill/>
        </p:spPr>
        <p:txBody>
          <a:bodyPr wrap="square" anchor="ctr">
            <a:spAutoFit/>
          </a:bodyPr>
          <a:lstStyle/>
          <a:p>
            <a:r>
              <a:rPr sz="1500" b="1" i="0">
                <a:solidFill>
                  <a:srgbClr val="FEFCF6"/>
                </a:solidFill>
                <a:latin typeface="Merriweather"/>
              </a:rPr>
              <a:t>Content Metadata (TMDB)</a:t>
            </a:r>
          </a:p>
        </p:txBody>
      </p:sp>
      <p:sp>
        <p:nvSpPr>
          <p:cNvPr id="7" name="TextBox 6"/>
          <p:cNvSpPr txBox="1"/>
          <p:nvPr/>
        </p:nvSpPr>
        <p:spPr>
          <a:xfrm>
            <a:off x="469650" y="1560000"/>
            <a:ext cx="4100000" cy="2650000"/>
          </a:xfrm>
          <a:prstGeom prst="rect">
            <a:avLst/>
          </a:prstGeom>
          <a:noFill/>
        </p:spPr>
        <p:txBody>
          <a:bodyPr wrap="square">
            <a:spAutoFit/>
          </a:bodyPr>
          <a:lstStyle/>
          <a:p>
            <a:pPr marL="182880" indent="-182880">
              <a:lnSpc>
                <a:spcPct val="118000"/>
              </a:lnSpc>
              <a:spcAft>
                <a:spcPts val="500"/>
              </a:spcAft>
              <a:buClr>
                <a:srgbClr val="C0392B"/>
              </a:buClr>
              <a:buFont typeface="Calibri"/>
              <a:buChar char="‣"/>
            </a:pPr>
            <a:r>
              <a:rPr sz="1150" b="0" i="0">
                <a:solidFill>
                  <a:srgbClr val="FEFCF6"/>
                </a:solidFill>
                <a:latin typeface="Source Serif 4"/>
              </a:rPr>
              <a:t>Source: TMDB 5000 Movie Dataset (Kaggle)</a:t>
            </a:r>
          </a:p>
          <a:p>
            <a:pPr marL="182880" indent="-182880">
              <a:lnSpc>
                <a:spcPct val="118000"/>
              </a:lnSpc>
              <a:spcAft>
                <a:spcPts val="500"/>
              </a:spcAft>
              <a:buClr>
                <a:srgbClr val="C0392B"/>
              </a:buClr>
              <a:buFont typeface="Calibri"/>
              <a:buChar char="‣"/>
            </a:pPr>
            <a:r>
              <a:rPr sz="1150" b="0" i="0">
                <a:solidFill>
                  <a:srgbClr val="FEFCF6"/>
                </a:solidFill>
                <a:latin typeface="Source Serif 4"/>
              </a:rPr>
              <a:t>Two files: movies.csv and credits.csv, merged on movie title</a:t>
            </a:r>
          </a:p>
          <a:p>
            <a:pPr marL="182880" indent="-182880">
              <a:lnSpc>
                <a:spcPct val="118000"/>
              </a:lnSpc>
              <a:spcAft>
                <a:spcPts val="500"/>
              </a:spcAft>
              <a:buClr>
                <a:srgbClr val="C0392B"/>
              </a:buClr>
              <a:buFont typeface="Calibri"/>
              <a:buChar char="‣"/>
            </a:pPr>
            <a:r>
              <a:rPr sz="1150" b="0" i="0">
                <a:solidFill>
                  <a:srgbClr val="FEFCF6"/>
                </a:solidFill>
                <a:latin typeface="Source Serif 4"/>
              </a:rPr>
              <a:t>≈ 5,000 movies with rich metadata</a:t>
            </a:r>
          </a:p>
          <a:p>
            <a:pPr marL="182880" indent="-182880">
              <a:lnSpc>
                <a:spcPct val="118000"/>
              </a:lnSpc>
              <a:spcAft>
                <a:spcPts val="500"/>
              </a:spcAft>
              <a:buClr>
                <a:srgbClr val="C0392B"/>
              </a:buClr>
              <a:buFont typeface="Calibri"/>
              <a:buChar char="‣"/>
            </a:pPr>
            <a:r>
              <a:rPr sz="1150" b="0" i="0">
                <a:solidFill>
                  <a:srgbClr val="FEFCF6"/>
                </a:solidFill>
                <a:latin typeface="Source Serif 4"/>
              </a:rPr>
              <a:t>Combined to build a single 'tags' feature per movie</a:t>
            </a:r>
          </a:p>
        </p:txBody>
      </p:sp>
      <p:pic>
        <p:nvPicPr>
          <p:cNvPr id="8" name="Picture 7" descr="users_white.png"/>
          <p:cNvPicPr>
            <a:picLocks noChangeAspect="1"/>
          </p:cNvPicPr>
          <p:nvPr/>
        </p:nvPicPr>
        <p:blipFill>
          <a:blip r:embed="rId4"/>
          <a:stretch>
            <a:fillRect/>
          </a:stretch>
        </p:blipFill>
        <p:spPr>
          <a:xfrm>
            <a:off x="469650" y="3020000"/>
            <a:ext cx="230000" cy="230000"/>
          </a:xfrm>
          <a:prstGeom prst="rect">
            <a:avLst/>
          </a:prstGeom>
        </p:spPr>
      </p:pic>
      <p:sp>
        <p:nvSpPr>
          <p:cNvPr id="9" name="TextBox 8"/>
          <p:cNvSpPr txBox="1"/>
          <p:nvPr/>
        </p:nvSpPr>
        <p:spPr>
          <a:xfrm>
            <a:off x="759650" y="2970000"/>
            <a:ext cx="3800000" cy="400000"/>
          </a:xfrm>
          <a:prstGeom prst="rect">
            <a:avLst/>
          </a:prstGeom>
          <a:noFill/>
        </p:spPr>
        <p:txBody>
          <a:bodyPr wrap="square" anchor="ctr">
            <a:spAutoFit/>
          </a:bodyPr>
          <a:lstStyle/>
          <a:p>
            <a:r>
              <a:rPr sz="1500" b="1" i="0">
                <a:solidFill>
                  <a:srgbClr val="FEFCF6"/>
                </a:solidFill>
                <a:latin typeface="Merriweather"/>
              </a:rPr>
              <a:t>Ratings Data (Collaborative)</a:t>
            </a:r>
          </a:p>
        </p:txBody>
      </p:sp>
      <p:sp>
        <p:nvSpPr>
          <p:cNvPr id="10" name="TextBox 9"/>
          <p:cNvSpPr txBox="1"/>
          <p:nvPr/>
        </p:nvSpPr>
        <p:spPr>
          <a:xfrm>
            <a:off x="469650" y="3380000"/>
            <a:ext cx="4100000" cy="900000"/>
          </a:xfrm>
          <a:prstGeom prst="rect">
            <a:avLst/>
          </a:prstGeom>
          <a:noFill/>
        </p:spPr>
        <p:txBody>
          <a:bodyPr wrap="square">
            <a:spAutoFit/>
          </a:bodyPr>
          <a:lstStyle/>
          <a:p>
            <a:pPr marL="182880" indent="-182880">
              <a:lnSpc>
                <a:spcPct val="118000"/>
              </a:lnSpc>
              <a:spcAft>
                <a:spcPts val="500"/>
              </a:spcAft>
              <a:buClr>
                <a:srgbClr val="C0392B"/>
              </a:buClr>
              <a:buFont typeface="Calibri"/>
              <a:buChar char="‣"/>
            </a:pPr>
            <a:r>
              <a:rPr sz="1150" b="0" i="0">
                <a:solidFill>
                  <a:srgbClr val="FEFCF6"/>
                </a:solidFill>
                <a:latin typeface="Source Serif 4"/>
              </a:rPr>
              <a:t>ratings.csv — userId, movieId, rating</a:t>
            </a:r>
          </a:p>
          <a:p>
            <a:pPr marL="182880" indent="-182880">
              <a:lnSpc>
                <a:spcPct val="118000"/>
              </a:lnSpc>
              <a:spcAft>
                <a:spcPts val="500"/>
              </a:spcAft>
              <a:buClr>
                <a:srgbClr val="C0392B"/>
              </a:buClr>
              <a:buFont typeface="Calibri"/>
              <a:buChar char="‣"/>
            </a:pPr>
            <a:r>
              <a:rPr sz="1150" b="0" i="0">
                <a:solidFill>
                  <a:srgbClr val="FEFCF6"/>
                </a:solidFill>
                <a:latin typeface="Source Serif 4"/>
              </a:rPr>
              <a:t>Builds the user-item matrix for collaborative filtering</a:t>
            </a:r>
          </a:p>
        </p:txBody>
      </p:sp>
      <p:pic>
        <p:nvPicPr>
          <p:cNvPr id="11" name="Picture 10" descr="list_white.png"/>
          <p:cNvPicPr>
            <a:picLocks noChangeAspect="1"/>
          </p:cNvPicPr>
          <p:nvPr/>
        </p:nvPicPr>
        <p:blipFill>
          <a:blip r:embed="rId5"/>
          <a:stretch>
            <a:fillRect/>
          </a:stretch>
        </p:blipFill>
        <p:spPr>
          <a:xfrm>
            <a:off x="4750000" y="1200000"/>
            <a:ext cx="230000" cy="230000"/>
          </a:xfrm>
          <a:prstGeom prst="rect">
            <a:avLst/>
          </a:prstGeom>
        </p:spPr>
      </p:pic>
      <p:sp>
        <p:nvSpPr>
          <p:cNvPr id="12" name="TextBox 11"/>
          <p:cNvSpPr txBox="1"/>
          <p:nvPr/>
        </p:nvSpPr>
        <p:spPr>
          <a:xfrm>
            <a:off x="5040000" y="1150000"/>
            <a:ext cx="3800000" cy="400000"/>
          </a:xfrm>
          <a:prstGeom prst="rect">
            <a:avLst/>
          </a:prstGeom>
          <a:noFill/>
        </p:spPr>
        <p:txBody>
          <a:bodyPr wrap="square" anchor="ctr">
            <a:spAutoFit/>
          </a:bodyPr>
          <a:lstStyle/>
          <a:p>
            <a:r>
              <a:rPr sz="1500" b="1" i="0">
                <a:solidFill>
                  <a:srgbClr val="FEFCF6"/>
                </a:solidFill>
                <a:latin typeface="Merriweather"/>
              </a:rPr>
              <a:t>Key Columns Used</a:t>
            </a:r>
          </a:p>
        </p:txBody>
      </p:sp>
      <p:sp>
        <p:nvSpPr>
          <p:cNvPr id="13" name="TextBox 12"/>
          <p:cNvSpPr txBox="1"/>
          <p:nvPr/>
        </p:nvSpPr>
        <p:spPr>
          <a:xfrm>
            <a:off x="4750000" y="1560000"/>
            <a:ext cx="3950000" cy="3000000"/>
          </a:xfrm>
          <a:prstGeom prst="rect">
            <a:avLst/>
          </a:prstGeom>
          <a:noFill/>
        </p:spPr>
        <p:txBody>
          <a:bodyPr wrap="square">
            <a:spAutoFit/>
          </a:bodyPr>
          <a:lstStyle/>
          <a:p>
            <a:pPr marL="182880" indent="-182880">
              <a:lnSpc>
                <a:spcPct val="118000"/>
              </a:lnSpc>
              <a:spcAft>
                <a:spcPts val="500"/>
              </a:spcAft>
              <a:buClr>
                <a:srgbClr val="C0392B"/>
              </a:buClr>
              <a:buFont typeface="Calibri"/>
              <a:buChar char="‣"/>
            </a:pPr>
            <a:r>
              <a:rPr sz="1150" b="0" i="0">
                <a:solidFill>
                  <a:srgbClr val="FEFCF6"/>
                </a:solidFill>
                <a:latin typeface="Source Serif 4"/>
              </a:rPr>
              <a:t>title — movie name</a:t>
            </a:r>
          </a:p>
          <a:p>
            <a:pPr marL="182880" indent="-182880">
              <a:lnSpc>
                <a:spcPct val="118000"/>
              </a:lnSpc>
              <a:spcAft>
                <a:spcPts val="500"/>
              </a:spcAft>
              <a:buClr>
                <a:srgbClr val="C0392B"/>
              </a:buClr>
              <a:buFont typeface="Calibri"/>
              <a:buChar char="‣"/>
            </a:pPr>
            <a:r>
              <a:rPr sz="1150" b="0" i="0">
                <a:solidFill>
                  <a:srgbClr val="FEFCF6"/>
                </a:solidFill>
                <a:latin typeface="Source Serif 4"/>
              </a:rPr>
              <a:t>genres — Action, Drama, Comedy, etc.</a:t>
            </a:r>
          </a:p>
          <a:p>
            <a:pPr marL="182880" indent="-182880">
              <a:lnSpc>
                <a:spcPct val="118000"/>
              </a:lnSpc>
              <a:spcAft>
                <a:spcPts val="500"/>
              </a:spcAft>
              <a:buClr>
                <a:srgbClr val="C0392B"/>
              </a:buClr>
              <a:buFont typeface="Calibri"/>
              <a:buChar char="‣"/>
            </a:pPr>
            <a:r>
              <a:rPr sz="1150" b="0" i="0">
                <a:solidFill>
                  <a:srgbClr val="FEFCF6"/>
                </a:solidFill>
                <a:latin typeface="Source Serif 4"/>
              </a:rPr>
              <a:t>overview — short plot summary</a:t>
            </a:r>
          </a:p>
          <a:p>
            <a:pPr marL="182880" indent="-182880">
              <a:lnSpc>
                <a:spcPct val="118000"/>
              </a:lnSpc>
              <a:spcAft>
                <a:spcPts val="500"/>
              </a:spcAft>
              <a:buClr>
                <a:srgbClr val="C0392B"/>
              </a:buClr>
              <a:buFont typeface="Calibri"/>
              <a:buChar char="‣"/>
            </a:pPr>
            <a:r>
              <a:rPr sz="1150" b="0" i="0">
                <a:solidFill>
                  <a:srgbClr val="FEFCF6"/>
                </a:solidFill>
                <a:latin typeface="Source Serif 4"/>
              </a:rPr>
              <a:t>keywords — theme-related tags</a:t>
            </a:r>
          </a:p>
          <a:p>
            <a:pPr marL="182880" indent="-182880">
              <a:lnSpc>
                <a:spcPct val="118000"/>
              </a:lnSpc>
              <a:spcAft>
                <a:spcPts val="500"/>
              </a:spcAft>
              <a:buClr>
                <a:srgbClr val="C0392B"/>
              </a:buClr>
              <a:buFont typeface="Calibri"/>
              <a:buChar char="‣"/>
            </a:pPr>
            <a:r>
              <a:rPr sz="1150" b="0" i="0">
                <a:solidFill>
                  <a:srgbClr val="FEFCF6"/>
                </a:solidFill>
                <a:latin typeface="Source Serif 4"/>
              </a:rPr>
              <a:t>cast — lead actors</a:t>
            </a:r>
          </a:p>
          <a:p>
            <a:pPr marL="182880" indent="-182880">
              <a:lnSpc>
                <a:spcPct val="118000"/>
              </a:lnSpc>
              <a:spcAft>
                <a:spcPts val="500"/>
              </a:spcAft>
              <a:buClr>
                <a:srgbClr val="C0392B"/>
              </a:buClr>
              <a:buFont typeface="Calibri"/>
              <a:buChar char="‣"/>
            </a:pPr>
            <a:r>
              <a:rPr sz="1150" b="0" i="0">
                <a:solidFill>
                  <a:srgbClr val="FEFCF6"/>
                </a:solidFill>
                <a:latin typeface="Source Serif 4"/>
              </a:rPr>
              <a:t>crew — director &amp; key crew members</a:t>
            </a:r>
          </a:p>
          <a:p>
            <a:pPr marL="182880" indent="-182880">
              <a:lnSpc>
                <a:spcPct val="118000"/>
              </a:lnSpc>
              <a:spcAft>
                <a:spcPts val="500"/>
              </a:spcAft>
              <a:buClr>
                <a:srgbClr val="C0392B"/>
              </a:buClr>
              <a:buFont typeface="Calibri"/>
              <a:buChar char="‣"/>
            </a:pPr>
            <a:r>
              <a:rPr sz="1150" b="0" i="0">
                <a:solidFill>
                  <a:srgbClr val="FEFCF6"/>
                </a:solidFill>
                <a:latin typeface="Source Serif 4"/>
              </a:rPr>
              <a:t>userId / rating — powers the collaborative side</a:t>
            </a:r>
          </a:p>
        </p:txBody>
      </p:sp>
      <p:sp>
        <p:nvSpPr>
          <p:cNvPr id="14" name="Rounded Rectangle 13"/>
          <p:cNvSpPr/>
          <p:nvPr/>
        </p:nvSpPr>
        <p:spPr>
          <a:xfrm>
            <a:off x="469650" y="4300000"/>
            <a:ext cx="8204000" cy="620000"/>
          </a:xfrm>
          <a:prstGeom prst="roundRect">
            <a:avLst>
              <a:gd name="adj" fmla="val 18000"/>
            </a:avLst>
          </a:prstGeom>
          <a:solidFill>
            <a:srgbClr val="3D33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50000" rIns="150000"/>
          <a:lstStyle/>
          <a:p>
            <a:pPr algn="ctr"/>
            <a:r>
              <a:rPr sz="1100" b="1" i="0">
                <a:solidFill>
                  <a:srgbClr val="C0392B"/>
                </a:solidFill>
                <a:latin typeface="Merriweather"/>
              </a:rPr>
              <a:t>tags = </a:t>
            </a:r>
            <a:r>
              <a:rPr sz="1050" b="0" i="1">
                <a:solidFill>
                  <a:srgbClr val="FEFCF6"/>
                </a:solidFill>
                <a:latin typeface="Consolas"/>
              </a:rPr>
              <a:t>"action space war epic hero alien science-fiction leonardo dicaprio christopher nolan"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Rectangle 38"/>
          <p:cNvSpPr/>
          <p:nvPr/>
        </p:nvSpPr>
        <p:spPr>
          <a:xfrm>
            <a:off x="476280" y="476280"/>
            <a:ext cx="8191080" cy="36144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70000" lnSpcReduction="19999"/>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 name="Rectangle 39"/>
          <p:cNvSpPr/>
          <p:nvPr/>
        </p:nvSpPr>
        <p:spPr>
          <a:xfrm>
            <a:off x="476280" y="1905120"/>
            <a:ext cx="8191080" cy="456840"/>
          </a:xfrm>
          <a:prstGeom prst="rect">
            <a:avLst/>
          </a:prstGeom>
          <a:noFill/>
          <a:ln w="0">
            <a:noFill/>
          </a:ln>
        </p:spPr>
        <p:style>
          <a:lnRef idx="0">
            <a:scrgbClr r="0" g="0" b="0"/>
          </a:lnRef>
          <a:fillRef idx="0">
            <a:scrgbClr r="0" g="0" b="0"/>
          </a:fillRef>
          <a:effectRef idx="0">
            <a:scrgbClr r="0" g="0" b="0"/>
          </a:effectRef>
          <a:fontRef idx="minor"/>
        </p:style>
        <p:txBody>
          <a:bodyPr anchor="t">
            <a:normAutofit lnSpcReduction="10000"/>
          </a:bodyPr>
          <a:lstStyle/>
          <a:p>
            <a:pPr defTabSz="914400">
              <a:lnSpc>
                <a:spcPct val="150000"/>
              </a:lnSpc>
              <a:tabLst>
                <a:tab pos="0" algn="l"/>
              </a:tabLst>
            </a:pPr>
            <a:endParaRPr lang="en-US" sz="1800" b="0" u="none" strike="noStrike">
              <a:solidFill>
                <a:srgbClr val="FFFFFF"/>
              </a:solidFill>
              <a:effectLst/>
              <a:uFillTx/>
              <a:latin typeface="OpenSymbol"/>
            </a:endParaRPr>
          </a:p>
        </p:txBody>
      </p:sp>
      <p:sp>
        <p:nvSpPr>
          <p:cNvPr id="41" name="Rounded Rectangle 40"/>
          <p:cNvSpPr/>
          <p:nvPr/>
        </p:nvSpPr>
        <p:spPr>
          <a:xfrm>
            <a:off x="469650" y="190000"/>
            <a:ext cx="600000" cy="600000"/>
          </a:xfrm>
          <a:prstGeom prst="roundRect">
            <a:avLst>
              <a:gd name="adj" fmla="val 28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broom_white.png"/>
          <p:cNvPicPr>
            <a:picLocks noChangeAspect="1"/>
          </p:cNvPicPr>
          <p:nvPr/>
        </p:nvPicPr>
        <p:blipFill>
          <a:blip r:embed="rId2"/>
          <a:stretch>
            <a:fillRect/>
          </a:stretch>
        </p:blipFill>
        <p:spPr>
          <a:xfrm>
            <a:off x="599650" y="320000"/>
            <a:ext cx="340000" cy="340000"/>
          </a:xfrm>
          <a:prstGeom prst="rect">
            <a:avLst/>
          </a:prstGeom>
        </p:spPr>
      </p:pic>
      <p:sp>
        <p:nvSpPr>
          <p:cNvPr id="43" name="TextBox 42"/>
          <p:cNvSpPr txBox="1"/>
          <p:nvPr/>
        </p:nvSpPr>
        <p:spPr>
          <a:xfrm>
            <a:off x="1249650" y="190000"/>
            <a:ext cx="7644000" cy="600000"/>
          </a:xfrm>
          <a:prstGeom prst="rect">
            <a:avLst/>
          </a:prstGeom>
          <a:noFill/>
        </p:spPr>
        <p:txBody>
          <a:bodyPr wrap="square" anchor="ctr">
            <a:spAutoFit/>
          </a:bodyPr>
          <a:lstStyle/>
          <a:p>
            <a:r>
              <a:rPr sz="2900" b="1" i="0">
                <a:solidFill>
                  <a:srgbClr val="FEFCF6"/>
                </a:solidFill>
                <a:latin typeface="Algerian"/>
              </a:rPr>
              <a:t>DATA PREPROCESSING</a:t>
            </a:r>
          </a:p>
        </p:txBody>
      </p:sp>
      <p:pic>
        <p:nvPicPr>
          <p:cNvPr id="44" name="Picture 43" descr="filter_white.png"/>
          <p:cNvPicPr>
            <a:picLocks noChangeAspect="1"/>
          </p:cNvPicPr>
          <p:nvPr/>
        </p:nvPicPr>
        <p:blipFill>
          <a:blip r:embed="rId3"/>
          <a:stretch>
            <a:fillRect/>
          </a:stretch>
        </p:blipFill>
        <p:spPr>
          <a:xfrm>
            <a:off x="469650" y="1200000"/>
            <a:ext cx="230000" cy="230000"/>
          </a:xfrm>
          <a:prstGeom prst="rect">
            <a:avLst/>
          </a:prstGeom>
        </p:spPr>
      </p:pic>
      <p:sp>
        <p:nvSpPr>
          <p:cNvPr id="45" name="TextBox 44"/>
          <p:cNvSpPr txBox="1"/>
          <p:nvPr/>
        </p:nvSpPr>
        <p:spPr>
          <a:xfrm>
            <a:off x="759650" y="1150000"/>
            <a:ext cx="3800000" cy="400000"/>
          </a:xfrm>
          <a:prstGeom prst="rect">
            <a:avLst/>
          </a:prstGeom>
          <a:noFill/>
        </p:spPr>
        <p:txBody>
          <a:bodyPr wrap="square" anchor="ctr">
            <a:spAutoFit/>
          </a:bodyPr>
          <a:lstStyle/>
          <a:p>
            <a:r>
              <a:rPr sz="1500" b="1" i="0">
                <a:solidFill>
                  <a:srgbClr val="FEFCF6"/>
                </a:solidFill>
                <a:latin typeface="Merriweather"/>
              </a:rPr>
              <a:t>Cleaning Steps</a:t>
            </a:r>
          </a:p>
        </p:txBody>
      </p:sp>
      <p:sp>
        <p:nvSpPr>
          <p:cNvPr id="46" name="TextBox 45"/>
          <p:cNvSpPr txBox="1"/>
          <p:nvPr/>
        </p:nvSpPr>
        <p:spPr>
          <a:xfrm>
            <a:off x="469650" y="1560000"/>
            <a:ext cx="4000000" cy="3200000"/>
          </a:xfrm>
          <a:prstGeom prst="rect">
            <a:avLst/>
          </a:prstGeom>
          <a:noFill/>
        </p:spPr>
        <p:txBody>
          <a:bodyPr wrap="square">
            <a:spAutoFit/>
          </a:bodyPr>
          <a:lstStyle/>
          <a:p>
            <a:pPr marL="182880" indent="-182880">
              <a:lnSpc>
                <a:spcPct val="118000"/>
              </a:lnSpc>
              <a:spcAft>
                <a:spcPts val="500"/>
              </a:spcAft>
              <a:buClr>
                <a:srgbClr val="C0392B"/>
              </a:buClr>
              <a:buFont typeface="Calibri"/>
              <a:buChar char="‣"/>
            </a:pPr>
            <a:r>
              <a:rPr sz="1150" b="0" i="0">
                <a:solidFill>
                  <a:srgbClr val="FEFCF6"/>
                </a:solidFill>
                <a:latin typeface="Source Serif 4"/>
              </a:rPr>
              <a:t>Remove null and duplicate records</a:t>
            </a:r>
          </a:p>
          <a:p>
            <a:pPr marL="182880" indent="-182880">
              <a:lnSpc>
                <a:spcPct val="118000"/>
              </a:lnSpc>
              <a:spcAft>
                <a:spcPts val="500"/>
              </a:spcAft>
              <a:buClr>
                <a:srgbClr val="C0392B"/>
              </a:buClr>
              <a:buFont typeface="Calibri"/>
              <a:buChar char="‣"/>
            </a:pPr>
            <a:r>
              <a:rPr sz="1150" b="0" i="0">
                <a:solidFill>
                  <a:srgbClr val="FEFCF6"/>
                </a:solidFill>
                <a:latin typeface="Source Serif 4"/>
              </a:rPr>
              <a:t>Convert stringified lists (genres, keywords, cast, crew) into Python lists</a:t>
            </a:r>
          </a:p>
          <a:p>
            <a:pPr marL="182880" indent="-182880">
              <a:lnSpc>
                <a:spcPct val="118000"/>
              </a:lnSpc>
              <a:spcAft>
                <a:spcPts val="500"/>
              </a:spcAft>
              <a:buClr>
                <a:srgbClr val="C0392B"/>
              </a:buClr>
              <a:buFont typeface="Calibri"/>
              <a:buChar char="‣"/>
            </a:pPr>
            <a:r>
              <a:rPr sz="1150" b="0" i="0">
                <a:solidFill>
                  <a:srgbClr val="FEFCF6"/>
                </a:solidFill>
                <a:latin typeface="Source Serif 4"/>
              </a:rPr>
              <a:t>Keep only top 3 cast members and the director from crew</a:t>
            </a:r>
          </a:p>
          <a:p>
            <a:pPr marL="182880" indent="-182880">
              <a:lnSpc>
                <a:spcPct val="118000"/>
              </a:lnSpc>
              <a:spcAft>
                <a:spcPts val="500"/>
              </a:spcAft>
              <a:buClr>
                <a:srgbClr val="C0392B"/>
              </a:buClr>
              <a:buFont typeface="Calibri"/>
              <a:buChar char="‣"/>
            </a:pPr>
            <a:r>
              <a:rPr sz="1150" b="0" i="0">
                <a:solidFill>
                  <a:srgbClr val="FEFCF6"/>
                </a:solidFill>
                <a:latin typeface="Source Serif 4"/>
              </a:rPr>
              <a:t>Remove spaces inside names so 'Sam Worthington' stays one token</a:t>
            </a:r>
          </a:p>
          <a:p>
            <a:pPr marL="182880" indent="-182880">
              <a:lnSpc>
                <a:spcPct val="118000"/>
              </a:lnSpc>
              <a:spcAft>
                <a:spcPts val="500"/>
              </a:spcAft>
              <a:buClr>
                <a:srgbClr val="C0392B"/>
              </a:buClr>
              <a:buFont typeface="Calibri"/>
              <a:buChar char="‣"/>
            </a:pPr>
            <a:r>
              <a:rPr sz="1150" b="0" i="0">
                <a:solidFill>
                  <a:srgbClr val="FEFCF6"/>
                </a:solidFill>
                <a:latin typeface="Source Serif 4"/>
              </a:rPr>
              <a:t>Drop irrelevant columns (budget, revenue, language) not needed for content matching</a:t>
            </a:r>
          </a:p>
        </p:txBody>
      </p:sp>
      <p:pic>
        <p:nvPicPr>
          <p:cNvPr id="47" name="Picture 46" descr="tags_white.png"/>
          <p:cNvPicPr>
            <a:picLocks noChangeAspect="1"/>
          </p:cNvPicPr>
          <p:nvPr/>
        </p:nvPicPr>
        <p:blipFill>
          <a:blip r:embed="rId4"/>
          <a:stretch>
            <a:fillRect/>
          </a:stretch>
        </p:blipFill>
        <p:spPr>
          <a:xfrm>
            <a:off x="4850000" y="1200000"/>
            <a:ext cx="230000" cy="230000"/>
          </a:xfrm>
          <a:prstGeom prst="rect">
            <a:avLst/>
          </a:prstGeom>
        </p:spPr>
      </p:pic>
      <p:sp>
        <p:nvSpPr>
          <p:cNvPr id="48" name="TextBox 47"/>
          <p:cNvSpPr txBox="1"/>
          <p:nvPr/>
        </p:nvSpPr>
        <p:spPr>
          <a:xfrm>
            <a:off x="5140000" y="1150000"/>
            <a:ext cx="3800000" cy="400000"/>
          </a:xfrm>
          <a:prstGeom prst="rect">
            <a:avLst/>
          </a:prstGeom>
          <a:noFill/>
        </p:spPr>
        <p:txBody>
          <a:bodyPr wrap="square" anchor="ctr">
            <a:spAutoFit/>
          </a:bodyPr>
          <a:lstStyle/>
          <a:p>
            <a:r>
              <a:rPr sz="1500" b="1" i="0">
                <a:solidFill>
                  <a:srgbClr val="FEFCF6"/>
                </a:solidFill>
                <a:latin typeface="Merriweather"/>
              </a:rPr>
              <a:t>Building the 'Tags' Column</a:t>
            </a:r>
          </a:p>
        </p:txBody>
      </p:sp>
      <p:sp>
        <p:nvSpPr>
          <p:cNvPr id="49" name="TextBox 48"/>
          <p:cNvSpPr txBox="1"/>
          <p:nvPr/>
        </p:nvSpPr>
        <p:spPr>
          <a:xfrm>
            <a:off x="4850000" y="1560000"/>
            <a:ext cx="3850000" cy="3200000"/>
          </a:xfrm>
          <a:prstGeom prst="rect">
            <a:avLst/>
          </a:prstGeom>
          <a:noFill/>
        </p:spPr>
        <p:txBody>
          <a:bodyPr wrap="square">
            <a:spAutoFit/>
          </a:bodyPr>
          <a:lstStyle/>
          <a:p>
            <a:pPr marL="182880" indent="-182880">
              <a:lnSpc>
                <a:spcPct val="118000"/>
              </a:lnSpc>
              <a:spcAft>
                <a:spcPts val="500"/>
              </a:spcAft>
              <a:buClr>
                <a:srgbClr val="C0392B"/>
              </a:buClr>
              <a:buFont typeface="Calibri"/>
              <a:buChar char="‣"/>
            </a:pPr>
            <a:r>
              <a:rPr sz="1150" b="0" i="0">
                <a:solidFill>
                  <a:srgbClr val="FEFCF6"/>
                </a:solidFill>
                <a:latin typeface="Source Serif 4"/>
              </a:rPr>
              <a:t>Merge title, overview, genres, keywords, cast and crew into one 'tags' column</a:t>
            </a:r>
          </a:p>
          <a:p>
            <a:pPr marL="182880" indent="-182880">
              <a:lnSpc>
                <a:spcPct val="118000"/>
              </a:lnSpc>
              <a:spcAft>
                <a:spcPts val="500"/>
              </a:spcAft>
              <a:buClr>
                <a:srgbClr val="C0392B"/>
              </a:buClr>
              <a:buFont typeface="Calibri"/>
              <a:buChar char="‣"/>
            </a:pPr>
            <a:r>
              <a:rPr sz="1150" b="0" i="0">
                <a:solidFill>
                  <a:srgbClr val="FEFCF6"/>
                </a:solidFill>
                <a:latin typeface="Source Serif 4"/>
              </a:rPr>
              <a:t>Convert tags to lowercase</a:t>
            </a:r>
          </a:p>
          <a:p>
            <a:pPr marL="182880" indent="-182880">
              <a:lnSpc>
                <a:spcPct val="118000"/>
              </a:lnSpc>
              <a:spcAft>
                <a:spcPts val="500"/>
              </a:spcAft>
              <a:buClr>
                <a:srgbClr val="C0392B"/>
              </a:buClr>
              <a:buFont typeface="Calibri"/>
              <a:buChar char="‣"/>
            </a:pPr>
            <a:r>
              <a:rPr sz="1150" b="0" i="0">
                <a:solidFill>
                  <a:srgbClr val="FEFCF6"/>
                </a:solidFill>
                <a:latin typeface="Source Serif 4"/>
              </a:rPr>
              <a:t>Apply stemming (PorterStemmer) to reduce words to root form</a:t>
            </a:r>
          </a:p>
          <a:p>
            <a:pPr marL="182880" indent="-182880">
              <a:lnSpc>
                <a:spcPct val="118000"/>
              </a:lnSpc>
              <a:spcAft>
                <a:spcPts val="500"/>
              </a:spcAft>
              <a:buClr>
                <a:srgbClr val="C0392B"/>
              </a:buClr>
              <a:buFont typeface="Calibri"/>
              <a:buChar char="‣"/>
            </a:pPr>
            <a:r>
              <a:rPr sz="1150" b="0" i="0">
                <a:solidFill>
                  <a:srgbClr val="FEFCF6"/>
                </a:solidFill>
                <a:latin typeface="Source Serif 4"/>
              </a:rPr>
              <a:t>Result: one clean text field per movie, ready for vectorization</a:t>
            </a:r>
          </a:p>
          <a:p>
            <a:pPr marL="182880" indent="-182880">
              <a:lnSpc>
                <a:spcPct val="118000"/>
              </a:lnSpc>
              <a:spcAft>
                <a:spcPts val="500"/>
              </a:spcAft>
              <a:buClr>
                <a:srgbClr val="C0392B"/>
              </a:buClr>
              <a:buFont typeface="Calibri"/>
              <a:buChar char="‣"/>
            </a:pPr>
            <a:r>
              <a:rPr sz="1150" b="0" i="0">
                <a:solidFill>
                  <a:srgbClr val="FEFCF6"/>
                </a:solidFill>
                <a:latin typeface="Source Serif 4"/>
              </a:rPr>
              <a:t>Final dataframe kept to just movie_id, title and tags</a:t>
            </a:r>
          </a:p>
        </p:txBody>
      </p:sp>
      <p:sp>
        <p:nvSpPr>
          <p:cNvPr id="50" name="TextBox 49"/>
          <p:cNvSpPr txBox="1"/>
          <p:nvPr/>
        </p:nvSpPr>
        <p:spPr>
          <a:xfrm>
            <a:off x="469650" y="4700000"/>
            <a:ext cx="8204000" cy="350000"/>
          </a:xfrm>
          <a:prstGeom prst="rect">
            <a:avLst/>
          </a:prstGeom>
          <a:noFill/>
        </p:spPr>
        <p:txBody>
          <a:bodyPr wrap="square">
            <a:spAutoFit/>
          </a:bodyPr>
          <a:lstStyle/>
          <a:p>
            <a:pPr algn="l"/>
            <a:r>
              <a:rPr sz="1000" b="0" i="0">
                <a:solidFill>
                  <a:srgbClr val="B8AEA4"/>
                </a:solidFill>
                <a:latin typeface="Source Serif 4"/>
              </a:rPr>
              <a:t>Clean, consistent text input is what makes the similarity scoring in later stages accurate and reliable.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angle 40"/>
          <p:cNvSpPr/>
          <p:nvPr/>
        </p:nvSpPr>
        <p:spPr>
          <a:xfrm>
            <a:off x="476280" y="476280"/>
            <a:ext cx="8191080" cy="36144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70000" lnSpcReduction="19999"/>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 name="Rectangle 41"/>
          <p:cNvSpPr/>
          <p:nvPr/>
        </p:nvSpPr>
        <p:spPr>
          <a:xfrm>
            <a:off x="476280" y="1905120"/>
            <a:ext cx="8191080" cy="456840"/>
          </a:xfrm>
          <a:prstGeom prst="rect">
            <a:avLst/>
          </a:prstGeom>
          <a:noFill/>
          <a:ln w="0">
            <a:noFill/>
          </a:ln>
        </p:spPr>
        <p:style>
          <a:lnRef idx="0">
            <a:scrgbClr r="0" g="0" b="0"/>
          </a:lnRef>
          <a:fillRef idx="0">
            <a:scrgbClr r="0" g="0" b="0"/>
          </a:fillRef>
          <a:effectRef idx="0">
            <a:scrgbClr r="0" g="0" b="0"/>
          </a:effectRef>
          <a:fontRef idx="minor"/>
        </p:style>
        <p:txBody>
          <a:bodyPr anchor="t">
            <a:normAutofit lnSpcReduction="10000"/>
          </a:bodyPr>
          <a:lstStyle/>
          <a:p>
            <a:pPr defTabSz="914400">
              <a:lnSpc>
                <a:spcPct val="150000"/>
              </a:lnSpc>
              <a:tabLst>
                <a:tab pos="0" algn="l"/>
              </a:tabLst>
            </a:pPr>
            <a:endParaRPr lang="en-US" sz="1800" b="0" u="none" strike="noStrike">
              <a:solidFill>
                <a:srgbClr val="FFFFFF"/>
              </a:solidFill>
              <a:effectLst/>
              <a:uFillTx/>
              <a:latin typeface="OpenSymbol"/>
            </a:endParaRPr>
          </a:p>
        </p:txBody>
      </p:sp>
      <p:sp>
        <p:nvSpPr>
          <p:cNvPr id="43" name="Rounded Rectangle 42"/>
          <p:cNvSpPr/>
          <p:nvPr/>
        </p:nvSpPr>
        <p:spPr>
          <a:xfrm>
            <a:off x="469650" y="190000"/>
            <a:ext cx="600000" cy="600000"/>
          </a:xfrm>
          <a:prstGeom prst="roundRect">
            <a:avLst>
              <a:gd name="adj" fmla="val 28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Picture 43" descr="font_white.png"/>
          <p:cNvPicPr>
            <a:picLocks noChangeAspect="1"/>
          </p:cNvPicPr>
          <p:nvPr/>
        </p:nvPicPr>
        <p:blipFill>
          <a:blip r:embed="rId2"/>
          <a:stretch>
            <a:fillRect/>
          </a:stretch>
        </p:blipFill>
        <p:spPr>
          <a:xfrm>
            <a:off x="599650" y="320000"/>
            <a:ext cx="340000" cy="340000"/>
          </a:xfrm>
          <a:prstGeom prst="rect">
            <a:avLst/>
          </a:prstGeom>
        </p:spPr>
      </p:pic>
      <p:sp>
        <p:nvSpPr>
          <p:cNvPr id="45" name="TextBox 44"/>
          <p:cNvSpPr txBox="1"/>
          <p:nvPr/>
        </p:nvSpPr>
        <p:spPr>
          <a:xfrm>
            <a:off x="1249650" y="190000"/>
            <a:ext cx="7644000" cy="600000"/>
          </a:xfrm>
          <a:prstGeom prst="rect">
            <a:avLst/>
          </a:prstGeom>
          <a:noFill/>
        </p:spPr>
        <p:txBody>
          <a:bodyPr wrap="square" anchor="ctr">
            <a:spAutoFit/>
          </a:bodyPr>
          <a:lstStyle/>
          <a:p>
            <a:r>
              <a:rPr sz="2900" b="1" i="0">
                <a:solidFill>
                  <a:srgbClr val="FEFCF6"/>
                </a:solidFill>
                <a:latin typeface="Algerian"/>
              </a:rPr>
              <a:t>FEATURE ENGINEERING</a:t>
            </a:r>
          </a:p>
        </p:txBody>
      </p:sp>
      <p:pic>
        <p:nvPicPr>
          <p:cNvPr id="46" name="Picture 45" descr="question_white.png"/>
          <p:cNvPicPr>
            <a:picLocks noChangeAspect="1"/>
          </p:cNvPicPr>
          <p:nvPr/>
        </p:nvPicPr>
        <p:blipFill>
          <a:blip r:embed="rId3"/>
          <a:stretch>
            <a:fillRect/>
          </a:stretch>
        </p:blipFill>
        <p:spPr>
          <a:xfrm>
            <a:off x="469650" y="1200000"/>
            <a:ext cx="230000" cy="230000"/>
          </a:xfrm>
          <a:prstGeom prst="rect">
            <a:avLst/>
          </a:prstGeom>
        </p:spPr>
      </p:pic>
      <p:sp>
        <p:nvSpPr>
          <p:cNvPr id="47" name="TextBox 46"/>
          <p:cNvSpPr txBox="1"/>
          <p:nvPr/>
        </p:nvSpPr>
        <p:spPr>
          <a:xfrm>
            <a:off x="759650" y="1150000"/>
            <a:ext cx="3800000" cy="400000"/>
          </a:xfrm>
          <a:prstGeom prst="rect">
            <a:avLst/>
          </a:prstGeom>
          <a:noFill/>
        </p:spPr>
        <p:txBody>
          <a:bodyPr wrap="square" anchor="ctr">
            <a:spAutoFit/>
          </a:bodyPr>
          <a:lstStyle/>
          <a:p>
            <a:r>
              <a:rPr sz="1500" b="1" i="0">
                <a:solidFill>
                  <a:srgbClr val="FEFCF6"/>
                </a:solidFill>
                <a:latin typeface="Merriweather"/>
              </a:rPr>
              <a:t>Why Vectorization?</a:t>
            </a:r>
          </a:p>
        </p:txBody>
      </p:sp>
      <p:sp>
        <p:nvSpPr>
          <p:cNvPr id="48" name="TextBox 47"/>
          <p:cNvSpPr txBox="1"/>
          <p:nvPr/>
        </p:nvSpPr>
        <p:spPr>
          <a:xfrm>
            <a:off x="469650" y="1560000"/>
            <a:ext cx="4000000" cy="2450000"/>
          </a:xfrm>
          <a:prstGeom prst="rect">
            <a:avLst/>
          </a:prstGeom>
          <a:noFill/>
        </p:spPr>
        <p:txBody>
          <a:bodyPr wrap="square">
            <a:spAutoFit/>
          </a:bodyPr>
          <a:lstStyle/>
          <a:p>
            <a:pPr marL="182880" indent="-182880">
              <a:lnSpc>
                <a:spcPct val="118000"/>
              </a:lnSpc>
              <a:spcAft>
                <a:spcPts val="500"/>
              </a:spcAft>
              <a:buClr>
                <a:srgbClr val="C0392B"/>
              </a:buClr>
              <a:buFont typeface="Calibri"/>
              <a:buChar char="‣"/>
            </a:pPr>
            <a:r>
              <a:rPr sz="1150" b="0" i="0">
                <a:solidFill>
                  <a:srgbClr val="FEFCF6"/>
                </a:solidFill>
                <a:latin typeface="Source Serif 4"/>
              </a:rPr>
              <a:t>Text can't be compared directly — it must become numbers</a:t>
            </a:r>
          </a:p>
          <a:p>
            <a:pPr marL="182880" indent="-182880">
              <a:lnSpc>
                <a:spcPct val="118000"/>
              </a:lnSpc>
              <a:spcAft>
                <a:spcPts val="500"/>
              </a:spcAft>
              <a:buClr>
                <a:srgbClr val="C0392B"/>
              </a:buClr>
              <a:buFont typeface="Calibri"/>
              <a:buChar char="‣"/>
            </a:pPr>
            <a:r>
              <a:rPr sz="1150" b="0" i="0">
                <a:solidFill>
                  <a:srgbClr val="FEFCF6"/>
                </a:solidFill>
                <a:latin typeface="Source Serif 4"/>
              </a:rPr>
              <a:t>CountVectorizer converts each movie's tags into a word-frequency vector</a:t>
            </a:r>
          </a:p>
          <a:p>
            <a:pPr marL="182880" indent="-182880">
              <a:lnSpc>
                <a:spcPct val="118000"/>
              </a:lnSpc>
              <a:spcAft>
                <a:spcPts val="500"/>
              </a:spcAft>
              <a:buClr>
                <a:srgbClr val="C0392B"/>
              </a:buClr>
              <a:buFont typeface="Calibri"/>
              <a:buChar char="‣"/>
            </a:pPr>
            <a:r>
              <a:rPr sz="1150" b="0" i="0">
                <a:solidFill>
                  <a:srgbClr val="FEFCF6"/>
                </a:solidFill>
                <a:latin typeface="Source Serif 4"/>
              </a:rPr>
              <a:t>max_features = 5000 keeps only the most informative words</a:t>
            </a:r>
          </a:p>
          <a:p>
            <a:pPr marL="182880" indent="-182880">
              <a:lnSpc>
                <a:spcPct val="118000"/>
              </a:lnSpc>
              <a:spcAft>
                <a:spcPts val="500"/>
              </a:spcAft>
              <a:buClr>
                <a:srgbClr val="C0392B"/>
              </a:buClr>
              <a:buFont typeface="Calibri"/>
              <a:buChar char="‣"/>
            </a:pPr>
            <a:r>
              <a:rPr sz="1150" b="0" i="0">
                <a:solidFill>
                  <a:srgbClr val="FEFCF6"/>
                </a:solidFill>
                <a:latin typeface="Source Serif 4"/>
              </a:rPr>
              <a:t>English stop words (the, is, and…) are removed automatically</a:t>
            </a:r>
          </a:p>
        </p:txBody>
      </p:sp>
      <p:pic>
        <p:nvPicPr>
          <p:cNvPr id="49" name="Picture 48" descr="cogsmall_white.png"/>
          <p:cNvPicPr>
            <a:picLocks noChangeAspect="1"/>
          </p:cNvPicPr>
          <p:nvPr/>
        </p:nvPicPr>
        <p:blipFill>
          <a:blip r:embed="rId4"/>
          <a:stretch>
            <a:fillRect/>
          </a:stretch>
        </p:blipFill>
        <p:spPr>
          <a:xfrm>
            <a:off x="4850000" y="1200000"/>
            <a:ext cx="230000" cy="230000"/>
          </a:xfrm>
          <a:prstGeom prst="rect">
            <a:avLst/>
          </a:prstGeom>
        </p:spPr>
      </p:pic>
      <p:sp>
        <p:nvSpPr>
          <p:cNvPr id="50" name="TextBox 49"/>
          <p:cNvSpPr txBox="1"/>
          <p:nvPr/>
        </p:nvSpPr>
        <p:spPr>
          <a:xfrm>
            <a:off x="5140000" y="1150000"/>
            <a:ext cx="3800000" cy="400000"/>
          </a:xfrm>
          <a:prstGeom prst="rect">
            <a:avLst/>
          </a:prstGeom>
          <a:noFill/>
        </p:spPr>
        <p:txBody>
          <a:bodyPr wrap="square" anchor="ctr">
            <a:spAutoFit/>
          </a:bodyPr>
          <a:lstStyle/>
          <a:p>
            <a:r>
              <a:rPr sz="1500" b="1" i="0">
                <a:solidFill>
                  <a:srgbClr val="FEFCF6"/>
                </a:solidFill>
                <a:latin typeface="Merriweather"/>
              </a:rPr>
              <a:t>How It Works</a:t>
            </a:r>
          </a:p>
        </p:txBody>
      </p:sp>
      <p:sp>
        <p:nvSpPr>
          <p:cNvPr id="51" name="TextBox 50"/>
          <p:cNvSpPr txBox="1"/>
          <p:nvPr/>
        </p:nvSpPr>
        <p:spPr>
          <a:xfrm>
            <a:off x="4850000" y="1560000"/>
            <a:ext cx="3850000" cy="2450000"/>
          </a:xfrm>
          <a:prstGeom prst="rect">
            <a:avLst/>
          </a:prstGeom>
          <a:noFill/>
        </p:spPr>
        <p:txBody>
          <a:bodyPr wrap="square">
            <a:spAutoFit/>
          </a:bodyPr>
          <a:lstStyle/>
          <a:p>
            <a:pPr marL="182880" indent="-182880">
              <a:lnSpc>
                <a:spcPct val="118000"/>
              </a:lnSpc>
              <a:spcAft>
                <a:spcPts val="500"/>
              </a:spcAft>
              <a:buClr>
                <a:srgbClr val="C0392B"/>
              </a:buClr>
              <a:buFont typeface="Calibri"/>
              <a:buChar char="‣"/>
            </a:pPr>
            <a:r>
              <a:rPr sz="1150" b="0" i="0">
                <a:solidFill>
                  <a:srgbClr val="FEFCF6"/>
                </a:solidFill>
                <a:latin typeface="Source Serif 4"/>
              </a:rPr>
              <a:t>Every movie becomes a point in 5000-dimensional space</a:t>
            </a:r>
          </a:p>
          <a:p>
            <a:pPr marL="182880" indent="-182880">
              <a:lnSpc>
                <a:spcPct val="118000"/>
              </a:lnSpc>
              <a:spcAft>
                <a:spcPts val="500"/>
              </a:spcAft>
              <a:buClr>
                <a:srgbClr val="C0392B"/>
              </a:buClr>
              <a:buFont typeface="Calibri"/>
              <a:buChar char="‣"/>
            </a:pPr>
            <a:r>
              <a:rPr sz="1150" b="0" i="0">
                <a:solidFill>
                  <a:srgbClr val="FEFCF6"/>
                </a:solidFill>
                <a:latin typeface="Source Serif 4"/>
              </a:rPr>
              <a:t>Similar movies end up with similar vectors</a:t>
            </a:r>
          </a:p>
          <a:p>
            <a:pPr marL="182880" indent="-182880">
              <a:lnSpc>
                <a:spcPct val="118000"/>
              </a:lnSpc>
              <a:spcAft>
                <a:spcPts val="500"/>
              </a:spcAft>
              <a:buClr>
                <a:srgbClr val="C0392B"/>
              </a:buClr>
              <a:buFont typeface="Calibri"/>
              <a:buChar char="‣"/>
            </a:pPr>
            <a:r>
              <a:rPr sz="1150" b="0" i="0">
                <a:solidFill>
                  <a:srgbClr val="FEFCF6"/>
                </a:solidFill>
                <a:latin typeface="Source Serif 4"/>
              </a:rPr>
              <a:t>Output: a movie-count matrix used for similarity scoring</a:t>
            </a:r>
          </a:p>
          <a:p>
            <a:pPr marL="182880" indent="-182880">
              <a:lnSpc>
                <a:spcPct val="118000"/>
              </a:lnSpc>
              <a:spcAft>
                <a:spcPts val="500"/>
              </a:spcAft>
              <a:buClr>
                <a:srgbClr val="C0392B"/>
              </a:buClr>
              <a:buFont typeface="Calibri"/>
              <a:buChar char="‣"/>
            </a:pPr>
            <a:r>
              <a:rPr sz="1150" b="0" i="0">
                <a:solidFill>
                  <a:srgbClr val="FEFCF6"/>
                </a:solidFill>
                <a:latin typeface="Source Serif 4"/>
              </a:rPr>
              <a:t>Forms the foundation for the recommendation engine</a:t>
            </a:r>
          </a:p>
        </p:txBody>
      </p:sp>
      <p:pic>
        <p:nvPicPr>
          <p:cNvPr id="52" name="Picture 51" descr="list_white.png"/>
          <p:cNvPicPr>
            <a:picLocks noChangeAspect="1"/>
          </p:cNvPicPr>
          <p:nvPr/>
        </p:nvPicPr>
        <p:blipFill>
          <a:blip r:embed="rId5"/>
          <a:stretch>
            <a:fillRect/>
          </a:stretch>
        </p:blipFill>
        <p:spPr>
          <a:xfrm>
            <a:off x="469650" y="3970000"/>
            <a:ext cx="230000" cy="230000"/>
          </a:xfrm>
          <a:prstGeom prst="rect">
            <a:avLst/>
          </a:prstGeom>
        </p:spPr>
      </p:pic>
      <p:sp>
        <p:nvSpPr>
          <p:cNvPr id="53" name="TextBox 52"/>
          <p:cNvSpPr txBox="1"/>
          <p:nvPr/>
        </p:nvSpPr>
        <p:spPr>
          <a:xfrm>
            <a:off x="759650" y="3920000"/>
            <a:ext cx="4500000" cy="400000"/>
          </a:xfrm>
          <a:prstGeom prst="rect">
            <a:avLst/>
          </a:prstGeom>
          <a:noFill/>
        </p:spPr>
        <p:txBody>
          <a:bodyPr wrap="square" anchor="ctr">
            <a:spAutoFit/>
          </a:bodyPr>
          <a:lstStyle/>
          <a:p>
            <a:r>
              <a:rPr sz="1500" b="1" i="0">
                <a:solidFill>
                  <a:srgbClr val="FEFCF6"/>
                </a:solidFill>
                <a:latin typeface="Merriweather"/>
              </a:rPr>
              <a:t>Example Word-Count Vector</a:t>
            </a:r>
          </a:p>
        </p:txBody>
      </p:sp>
      <p:pic>
        <p:nvPicPr>
          <p:cNvPr id="54" name="Picture 53" descr="vector_illustration.png"/>
          <p:cNvPicPr>
            <a:picLocks noChangeAspect="1"/>
          </p:cNvPicPr>
          <p:nvPr/>
        </p:nvPicPr>
        <p:blipFill>
          <a:blip r:embed="rId6"/>
          <a:stretch>
            <a:fillRect/>
          </a:stretch>
        </p:blipFill>
        <p:spPr>
          <a:xfrm>
            <a:off x="2450000" y="4280000"/>
            <a:ext cx="4250000" cy="1000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469650" y="190000"/>
            <a:ext cx="600000" cy="600000"/>
          </a:xfrm>
          <a:prstGeom prst="roundRect">
            <a:avLst>
              <a:gd name="adj" fmla="val 28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alculator_white.png"/>
          <p:cNvPicPr>
            <a:picLocks noChangeAspect="1"/>
          </p:cNvPicPr>
          <p:nvPr/>
        </p:nvPicPr>
        <p:blipFill>
          <a:blip r:embed="rId2"/>
          <a:stretch>
            <a:fillRect/>
          </a:stretch>
        </p:blipFill>
        <p:spPr>
          <a:xfrm>
            <a:off x="599650" y="320000"/>
            <a:ext cx="340000" cy="340000"/>
          </a:xfrm>
          <a:prstGeom prst="rect">
            <a:avLst/>
          </a:prstGeom>
        </p:spPr>
      </p:pic>
      <p:sp>
        <p:nvSpPr>
          <p:cNvPr id="4" name="TextBox 3"/>
          <p:cNvSpPr txBox="1"/>
          <p:nvPr/>
        </p:nvSpPr>
        <p:spPr>
          <a:xfrm>
            <a:off x="1249650" y="190000"/>
            <a:ext cx="7644000" cy="600000"/>
          </a:xfrm>
          <a:prstGeom prst="rect">
            <a:avLst/>
          </a:prstGeom>
          <a:noFill/>
        </p:spPr>
        <p:txBody>
          <a:bodyPr wrap="square" anchor="ctr">
            <a:spAutoFit/>
          </a:bodyPr>
          <a:lstStyle/>
          <a:p>
            <a:r>
              <a:rPr sz="2900" b="1" i="0">
                <a:solidFill>
                  <a:srgbClr val="FEFCF6"/>
                </a:solidFill>
                <a:latin typeface="Algerian"/>
              </a:rPr>
              <a:t>CONTENT-BASED SCORE</a:t>
            </a:r>
          </a:p>
        </p:txBody>
      </p:sp>
      <p:pic>
        <p:nvPicPr>
          <p:cNvPr id="5" name="Picture 4" descr="lightbulb_white.png"/>
          <p:cNvPicPr>
            <a:picLocks noChangeAspect="1"/>
          </p:cNvPicPr>
          <p:nvPr/>
        </p:nvPicPr>
        <p:blipFill>
          <a:blip r:embed="rId3"/>
          <a:stretch>
            <a:fillRect/>
          </a:stretch>
        </p:blipFill>
        <p:spPr>
          <a:xfrm>
            <a:off x="469650" y="1200000"/>
            <a:ext cx="230000" cy="230000"/>
          </a:xfrm>
          <a:prstGeom prst="rect">
            <a:avLst/>
          </a:prstGeom>
        </p:spPr>
      </p:pic>
      <p:sp>
        <p:nvSpPr>
          <p:cNvPr id="6" name="TextBox 5"/>
          <p:cNvSpPr txBox="1"/>
          <p:nvPr/>
        </p:nvSpPr>
        <p:spPr>
          <a:xfrm>
            <a:off x="759650" y="1150000"/>
            <a:ext cx="3800000" cy="400000"/>
          </a:xfrm>
          <a:prstGeom prst="rect">
            <a:avLst/>
          </a:prstGeom>
          <a:noFill/>
        </p:spPr>
        <p:txBody>
          <a:bodyPr wrap="square" anchor="ctr">
            <a:spAutoFit/>
          </a:bodyPr>
          <a:lstStyle/>
          <a:p>
            <a:r>
              <a:rPr sz="1500" b="1" i="0">
                <a:solidFill>
                  <a:srgbClr val="FEFCF6"/>
                </a:solidFill>
                <a:latin typeface="Merriweather"/>
              </a:rPr>
              <a:t>Concept</a:t>
            </a:r>
          </a:p>
        </p:txBody>
      </p:sp>
      <p:sp>
        <p:nvSpPr>
          <p:cNvPr id="7" name="TextBox 6"/>
          <p:cNvSpPr txBox="1"/>
          <p:nvPr/>
        </p:nvSpPr>
        <p:spPr>
          <a:xfrm>
            <a:off x="469650" y="1560000"/>
            <a:ext cx="4050000" cy="2200000"/>
          </a:xfrm>
          <a:prstGeom prst="rect">
            <a:avLst/>
          </a:prstGeom>
          <a:noFill/>
        </p:spPr>
        <p:txBody>
          <a:bodyPr wrap="square">
            <a:spAutoFit/>
          </a:bodyPr>
          <a:lstStyle/>
          <a:p>
            <a:pPr marL="182880" indent="-182880">
              <a:lnSpc>
                <a:spcPct val="118000"/>
              </a:lnSpc>
              <a:spcAft>
                <a:spcPts val="500"/>
              </a:spcAft>
              <a:buClr>
                <a:srgbClr val="C0392B"/>
              </a:buClr>
              <a:buFont typeface="Calibri"/>
              <a:buChar char="‣"/>
            </a:pPr>
            <a:r>
              <a:rPr sz="1150" b="0" i="0">
                <a:solidFill>
                  <a:srgbClr val="FEFCF6"/>
                </a:solidFill>
                <a:latin typeface="Source Serif 4"/>
              </a:rPr>
              <a:t>Measures the angle between two movie vectors, not their length</a:t>
            </a:r>
          </a:p>
          <a:p>
            <a:pPr marL="182880" indent="-182880">
              <a:lnSpc>
                <a:spcPct val="118000"/>
              </a:lnSpc>
              <a:spcAft>
                <a:spcPts val="500"/>
              </a:spcAft>
              <a:buClr>
                <a:srgbClr val="C0392B"/>
              </a:buClr>
              <a:buFont typeface="Calibri"/>
              <a:buChar char="‣"/>
            </a:pPr>
            <a:r>
              <a:rPr sz="1150" b="0" i="0">
                <a:solidFill>
                  <a:srgbClr val="FEFCF6"/>
                </a:solidFill>
                <a:latin typeface="Source Serif 4"/>
              </a:rPr>
              <a:t>Score ranges from 0 (completely different) to 1 (identical)</a:t>
            </a:r>
          </a:p>
          <a:p>
            <a:pPr marL="182880" indent="-182880">
              <a:lnSpc>
                <a:spcPct val="118000"/>
              </a:lnSpc>
              <a:spcAft>
                <a:spcPts val="500"/>
              </a:spcAft>
              <a:buClr>
                <a:srgbClr val="C0392B"/>
              </a:buClr>
              <a:buFont typeface="Calibri"/>
              <a:buChar char="‣"/>
            </a:pPr>
            <a:r>
              <a:rPr sz="1150" b="0" i="0">
                <a:solidFill>
                  <a:srgbClr val="FEFCF6"/>
                </a:solidFill>
                <a:latin typeface="Source Serif 4"/>
              </a:rPr>
              <a:t>A smaller angle between vectors means higher similarity</a:t>
            </a:r>
          </a:p>
          <a:p>
            <a:pPr marL="182880" indent="-182880">
              <a:lnSpc>
                <a:spcPct val="118000"/>
              </a:lnSpc>
              <a:spcAft>
                <a:spcPts val="500"/>
              </a:spcAft>
              <a:buClr>
                <a:srgbClr val="C0392B"/>
              </a:buClr>
              <a:buFont typeface="Calibri"/>
              <a:buChar char="‣"/>
            </a:pPr>
            <a:r>
              <a:rPr sz="1150" b="0" i="0">
                <a:solidFill>
                  <a:srgbClr val="FEFCF6"/>
                </a:solidFill>
                <a:latin typeface="Source Serif 4"/>
              </a:rPr>
              <a:t>This is component 1 of the hybrid model — paired with collaborative filtering next</a:t>
            </a:r>
          </a:p>
        </p:txBody>
      </p:sp>
      <p:pic>
        <p:nvPicPr>
          <p:cNvPr id="8" name="Picture 7" descr="cosine_diagram.png"/>
          <p:cNvPicPr>
            <a:picLocks noChangeAspect="1"/>
          </p:cNvPicPr>
          <p:nvPr/>
        </p:nvPicPr>
        <p:blipFill>
          <a:blip r:embed="rId4"/>
          <a:stretch>
            <a:fillRect/>
          </a:stretch>
        </p:blipFill>
        <p:spPr>
          <a:xfrm>
            <a:off x="4950000" y="1050000"/>
            <a:ext cx="3550000" cy="2870000"/>
          </a:xfrm>
          <a:prstGeom prst="rect">
            <a:avLst/>
          </a:prstGeom>
        </p:spPr>
      </p:pic>
      <p:pic>
        <p:nvPicPr>
          <p:cNvPr id="9" name="Picture 8" descr="chartline_white.png"/>
          <p:cNvPicPr>
            <a:picLocks noChangeAspect="1"/>
          </p:cNvPicPr>
          <p:nvPr/>
        </p:nvPicPr>
        <p:blipFill>
          <a:blip r:embed="rId5"/>
          <a:stretch>
            <a:fillRect/>
          </a:stretch>
        </p:blipFill>
        <p:spPr>
          <a:xfrm>
            <a:off x="469650" y="4020000"/>
            <a:ext cx="230000" cy="230000"/>
          </a:xfrm>
          <a:prstGeom prst="rect">
            <a:avLst/>
          </a:prstGeom>
        </p:spPr>
      </p:pic>
      <p:sp>
        <p:nvSpPr>
          <p:cNvPr id="10" name="TextBox 9"/>
          <p:cNvSpPr txBox="1"/>
          <p:nvPr/>
        </p:nvSpPr>
        <p:spPr>
          <a:xfrm>
            <a:off x="759650" y="3970000"/>
            <a:ext cx="5000000" cy="400000"/>
          </a:xfrm>
          <a:prstGeom prst="rect">
            <a:avLst/>
          </a:prstGeom>
          <a:noFill/>
        </p:spPr>
        <p:txBody>
          <a:bodyPr wrap="square" anchor="ctr">
            <a:spAutoFit/>
          </a:bodyPr>
          <a:lstStyle/>
          <a:p>
            <a:r>
              <a:rPr sz="1500" b="1" i="0">
                <a:solidFill>
                  <a:srgbClr val="FEFCF6"/>
                </a:solidFill>
                <a:latin typeface="Merriweather"/>
              </a:rPr>
              <a:t>similarity(A,B) = (A·B) / (∥A∥×∥B∥)</a:t>
            </a:r>
          </a:p>
        </p:txBody>
      </p:sp>
      <p:sp>
        <p:nvSpPr>
          <p:cNvPr id="11" name="TextBox 10"/>
          <p:cNvSpPr txBox="1"/>
          <p:nvPr/>
        </p:nvSpPr>
        <p:spPr>
          <a:xfrm>
            <a:off x="469650" y="4480000"/>
            <a:ext cx="8204000" cy="500000"/>
          </a:xfrm>
          <a:prstGeom prst="rect">
            <a:avLst/>
          </a:prstGeom>
          <a:noFill/>
        </p:spPr>
        <p:txBody>
          <a:bodyPr wrap="square">
            <a:spAutoFit/>
          </a:bodyPr>
          <a:lstStyle/>
          <a:p>
            <a:pPr algn="l"/>
            <a:r>
              <a:rPr sz="1000" b="0" i="0">
                <a:solidFill>
                  <a:srgbClr val="FEFCF6"/>
                </a:solidFill>
                <a:latin typeface="Source Serif 4"/>
              </a:rPr>
              <a:t>Computed for every movie pair → scores sorted in descending order → top 5 highest-scoring movies (excluding the selected one) become the recommendations.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Rectangle 44"/>
          <p:cNvSpPr/>
          <p:nvPr/>
        </p:nvSpPr>
        <p:spPr>
          <a:xfrm>
            <a:off x="476280" y="476280"/>
            <a:ext cx="8191080" cy="36144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70000" lnSpcReduction="19999"/>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6" name="Rectangle 45"/>
          <p:cNvSpPr/>
          <p:nvPr/>
        </p:nvSpPr>
        <p:spPr>
          <a:xfrm>
            <a:off x="476280" y="1905120"/>
            <a:ext cx="8191080" cy="456840"/>
          </a:xfrm>
          <a:prstGeom prst="rect">
            <a:avLst/>
          </a:prstGeom>
          <a:noFill/>
          <a:ln w="0">
            <a:noFill/>
          </a:ln>
        </p:spPr>
        <p:style>
          <a:lnRef idx="0">
            <a:scrgbClr r="0" g="0" b="0"/>
          </a:lnRef>
          <a:fillRef idx="0">
            <a:scrgbClr r="0" g="0" b="0"/>
          </a:fillRef>
          <a:effectRef idx="0">
            <a:scrgbClr r="0" g="0" b="0"/>
          </a:effectRef>
          <a:fontRef idx="minor"/>
        </p:style>
        <p:txBody>
          <a:bodyPr anchor="t">
            <a:normAutofit lnSpcReduction="10000"/>
          </a:bodyPr>
          <a:lstStyle/>
          <a:p>
            <a:pPr defTabSz="914400">
              <a:lnSpc>
                <a:spcPct val="150000"/>
              </a:lnSpc>
              <a:tabLst>
                <a:tab pos="0" algn="l"/>
              </a:tabLst>
            </a:pPr>
            <a:endParaRPr lang="en-US" sz="1800" b="0" u="none" strike="noStrike">
              <a:solidFill>
                <a:srgbClr val="FFFFFF"/>
              </a:solidFill>
              <a:effectLst/>
              <a:uFillTx/>
              <a:latin typeface="OpenSymbol"/>
            </a:endParaRPr>
          </a:p>
        </p:txBody>
      </p:sp>
      <p:sp>
        <p:nvSpPr>
          <p:cNvPr id="47" name="Rounded Rectangle 46"/>
          <p:cNvSpPr/>
          <p:nvPr/>
        </p:nvSpPr>
        <p:spPr>
          <a:xfrm>
            <a:off x="469650" y="190000"/>
            <a:ext cx="600000" cy="600000"/>
          </a:xfrm>
          <a:prstGeom prst="roundRect">
            <a:avLst>
              <a:gd name="adj" fmla="val 28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8" name="Picture 47" descr="cogsmall_white.png"/>
          <p:cNvPicPr>
            <a:picLocks noChangeAspect="1"/>
          </p:cNvPicPr>
          <p:nvPr/>
        </p:nvPicPr>
        <p:blipFill>
          <a:blip r:embed="rId2"/>
          <a:stretch>
            <a:fillRect/>
          </a:stretch>
        </p:blipFill>
        <p:spPr>
          <a:xfrm>
            <a:off x="599650" y="320000"/>
            <a:ext cx="340000" cy="340000"/>
          </a:xfrm>
          <a:prstGeom prst="rect">
            <a:avLst/>
          </a:prstGeom>
        </p:spPr>
      </p:pic>
      <p:sp>
        <p:nvSpPr>
          <p:cNvPr id="49" name="TextBox 48"/>
          <p:cNvSpPr txBox="1"/>
          <p:nvPr/>
        </p:nvSpPr>
        <p:spPr>
          <a:xfrm>
            <a:off x="1249650" y="190000"/>
            <a:ext cx="7644000" cy="600000"/>
          </a:xfrm>
          <a:prstGeom prst="rect">
            <a:avLst/>
          </a:prstGeom>
          <a:noFill/>
        </p:spPr>
        <p:txBody>
          <a:bodyPr wrap="square" anchor="ctr">
            <a:spAutoFit/>
          </a:bodyPr>
          <a:lstStyle/>
          <a:p>
            <a:r>
              <a:rPr sz="2900" b="1" i="0">
                <a:solidFill>
                  <a:srgbClr val="FEFCF6"/>
                </a:solidFill>
                <a:latin typeface="Algerian"/>
              </a:rPr>
              <a:t>RECOMMENDATION WORKFLOW</a:t>
            </a:r>
          </a:p>
        </p:txBody>
      </p:sp>
      <p:sp>
        <p:nvSpPr>
          <p:cNvPr id="50" name="Rounded Rectangle 49"/>
          <p:cNvSpPr/>
          <p:nvPr/>
        </p:nvSpPr>
        <p:spPr>
          <a:xfrm>
            <a:off x="542000" y="1350000"/>
            <a:ext cx="1560000" cy="1750000"/>
          </a:xfrm>
          <a:prstGeom prst="roundRect">
            <a:avLst>
              <a:gd name="adj" fmla="val 10000"/>
            </a:avLst>
          </a:prstGeom>
          <a:solidFill>
            <a:srgbClr val="3D332C"/>
          </a:solidFill>
          <a:ln>
            <a:noFill/>
          </a:ln>
          <a:effectLst/>
        </p:spPr>
        <p:style>
          <a:lnRef idx="1">
            <a:schemeClr val="accent1"/>
          </a:lnRef>
          <a:fillRef idx="3">
            <a:schemeClr val="accent1"/>
          </a:fillRef>
          <a:effectRef idx="2">
            <a:schemeClr val="accent1"/>
          </a:effectRef>
          <a:fontRef idx="minor">
            <a:schemeClr val="lt1"/>
          </a:fontRef>
        </p:style>
        <p:txBody>
          <a:bodyPr rtlCol="0" anchor="b" wrap="square" lIns="60000" rIns="60000" tIns="0" bIns="70000"/>
          <a:lstStyle/>
          <a:p>
            <a:pPr algn="ctr"/>
            <a:r>
              <a:rPr sz="1100" b="1" i="0">
                <a:solidFill>
                  <a:srgbClr val="FEFCF6"/>
                </a:solidFill>
                <a:latin typeface="Merriweather"/>
              </a:rPr>
              <a:t>User Selects a Movie</a:t>
            </a:r>
          </a:p>
          <a:p>
            <a:pPr algn="ctr"/>
            <a:r>
              <a:rPr sz="900" b="0" i="0">
                <a:solidFill>
                  <a:srgbClr val="FEFCF6"/>
                </a:solidFill>
                <a:latin typeface="Source Serif 4"/>
              </a:rPr>
              <a:t>from the dropdown list</a:t>
            </a:r>
          </a:p>
        </p:txBody>
      </p:sp>
      <p:pic>
        <p:nvPicPr>
          <p:cNvPr id="51" name="Picture 50" descr="mobile_red.png"/>
          <p:cNvPicPr>
            <a:picLocks noChangeAspect="1"/>
          </p:cNvPicPr>
          <p:nvPr/>
        </p:nvPicPr>
        <p:blipFill>
          <a:blip r:embed="rId3"/>
          <a:stretch>
            <a:fillRect/>
          </a:stretch>
        </p:blipFill>
        <p:spPr>
          <a:xfrm>
            <a:off x="1152000" y="1470000"/>
            <a:ext cx="340000" cy="340000"/>
          </a:xfrm>
          <a:prstGeom prst="rect">
            <a:avLst/>
          </a:prstGeom>
        </p:spPr>
      </p:pic>
      <p:sp>
        <p:nvSpPr>
          <p:cNvPr id="52" name="Chevron 51"/>
          <p:cNvSpPr/>
          <p:nvPr/>
        </p:nvSpPr>
        <p:spPr>
          <a:xfrm>
            <a:off x="2108000" y="2135000"/>
            <a:ext cx="53000" cy="180000"/>
          </a:xfrm>
          <a:prstGeom prst="chevron">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2167000" y="1350000"/>
            <a:ext cx="1560000" cy="1750000"/>
          </a:xfrm>
          <a:prstGeom prst="roundRect">
            <a:avLst>
              <a:gd name="adj" fmla="val 10000"/>
            </a:avLst>
          </a:prstGeom>
          <a:solidFill>
            <a:srgbClr val="3D332C"/>
          </a:solidFill>
          <a:ln>
            <a:noFill/>
          </a:ln>
          <a:effectLst/>
        </p:spPr>
        <p:style>
          <a:lnRef idx="1">
            <a:schemeClr val="accent1"/>
          </a:lnRef>
          <a:fillRef idx="3">
            <a:schemeClr val="accent1"/>
          </a:fillRef>
          <a:effectRef idx="2">
            <a:schemeClr val="accent1"/>
          </a:effectRef>
          <a:fontRef idx="minor">
            <a:schemeClr val="lt1"/>
          </a:fontRef>
        </p:style>
        <p:txBody>
          <a:bodyPr rtlCol="0" anchor="b" wrap="square" lIns="60000" rIns="60000" tIns="0" bIns="70000"/>
          <a:lstStyle/>
          <a:p>
            <a:pPr algn="ctr"/>
            <a:r>
              <a:rPr sz="1100" b="1" i="0">
                <a:solidFill>
                  <a:srgbClr val="FEFCF6"/>
                </a:solidFill>
                <a:latin typeface="Merriweather"/>
              </a:rPr>
              <a:t>Content-Based Score</a:t>
            </a:r>
          </a:p>
          <a:p>
            <a:pPr algn="ctr"/>
            <a:r>
              <a:rPr sz="900" b="0" i="0">
                <a:solidFill>
                  <a:srgbClr val="FEFCF6"/>
                </a:solidFill>
                <a:latin typeface="Source Serif 4"/>
              </a:rPr>
              <a:t>cosine similarity</a:t>
            </a:r>
          </a:p>
        </p:txBody>
      </p:sp>
      <p:pic>
        <p:nvPicPr>
          <p:cNvPr id="54" name="Picture 53" descr="calculator_red.png"/>
          <p:cNvPicPr>
            <a:picLocks noChangeAspect="1"/>
          </p:cNvPicPr>
          <p:nvPr/>
        </p:nvPicPr>
        <p:blipFill>
          <a:blip r:embed="rId4"/>
          <a:stretch>
            <a:fillRect/>
          </a:stretch>
        </p:blipFill>
        <p:spPr>
          <a:xfrm>
            <a:off x="2777000" y="1470000"/>
            <a:ext cx="340000" cy="340000"/>
          </a:xfrm>
          <a:prstGeom prst="rect">
            <a:avLst/>
          </a:prstGeom>
        </p:spPr>
      </p:pic>
      <p:sp>
        <p:nvSpPr>
          <p:cNvPr id="55" name="Chevron 54"/>
          <p:cNvSpPr/>
          <p:nvPr/>
        </p:nvSpPr>
        <p:spPr>
          <a:xfrm>
            <a:off x="3733000" y="2135000"/>
            <a:ext cx="53000" cy="180000"/>
          </a:xfrm>
          <a:prstGeom prst="chevron">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ounded Rectangle 55"/>
          <p:cNvSpPr/>
          <p:nvPr/>
        </p:nvSpPr>
        <p:spPr>
          <a:xfrm>
            <a:off x="3792000" y="1350000"/>
            <a:ext cx="1560000" cy="1750000"/>
          </a:xfrm>
          <a:prstGeom prst="roundRect">
            <a:avLst>
              <a:gd name="adj" fmla="val 10000"/>
            </a:avLst>
          </a:prstGeom>
          <a:solidFill>
            <a:srgbClr val="3D332C"/>
          </a:solidFill>
          <a:ln>
            <a:noFill/>
          </a:ln>
          <a:effectLst/>
        </p:spPr>
        <p:style>
          <a:lnRef idx="1">
            <a:schemeClr val="accent1"/>
          </a:lnRef>
          <a:fillRef idx="3">
            <a:schemeClr val="accent1"/>
          </a:fillRef>
          <a:effectRef idx="2">
            <a:schemeClr val="accent1"/>
          </a:effectRef>
          <a:fontRef idx="minor">
            <a:schemeClr val="lt1"/>
          </a:fontRef>
        </p:style>
        <p:txBody>
          <a:bodyPr rtlCol="0" anchor="b" wrap="square" lIns="60000" rIns="60000" tIns="0" bIns="70000"/>
          <a:lstStyle/>
          <a:p>
            <a:pPr algn="ctr"/>
            <a:r>
              <a:rPr sz="1100" b="1" i="0">
                <a:solidFill>
                  <a:srgbClr val="FEFCF6"/>
                </a:solidFill>
                <a:latin typeface="Merriweather"/>
              </a:rPr>
              <a:t>Collaborative Score</a:t>
            </a:r>
          </a:p>
          <a:p>
            <a:pPr algn="ctr"/>
            <a:r>
              <a:rPr sz="900" b="0" i="0">
                <a:solidFill>
                  <a:srgbClr val="FEFCF6"/>
                </a:solidFill>
                <a:latin typeface="Source Serif 4"/>
              </a:rPr>
              <a:t>SVD prediction</a:t>
            </a:r>
          </a:p>
        </p:txBody>
      </p:sp>
      <p:pic>
        <p:nvPicPr>
          <p:cNvPr id="57" name="Picture 56" descr="users_red.png"/>
          <p:cNvPicPr>
            <a:picLocks noChangeAspect="1"/>
          </p:cNvPicPr>
          <p:nvPr/>
        </p:nvPicPr>
        <p:blipFill>
          <a:blip r:embed="rId5"/>
          <a:stretch>
            <a:fillRect/>
          </a:stretch>
        </p:blipFill>
        <p:spPr>
          <a:xfrm>
            <a:off x="4402000" y="1470000"/>
            <a:ext cx="340000" cy="340000"/>
          </a:xfrm>
          <a:prstGeom prst="rect">
            <a:avLst/>
          </a:prstGeom>
        </p:spPr>
      </p:pic>
      <p:sp>
        <p:nvSpPr>
          <p:cNvPr id="58" name="Chevron 57"/>
          <p:cNvSpPr/>
          <p:nvPr/>
        </p:nvSpPr>
        <p:spPr>
          <a:xfrm>
            <a:off x="5358000" y="2135000"/>
            <a:ext cx="53000" cy="180000"/>
          </a:xfrm>
          <a:prstGeom prst="chevron">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5417000" y="1350000"/>
            <a:ext cx="1560000" cy="1750000"/>
          </a:xfrm>
          <a:prstGeom prst="roundRect">
            <a:avLst>
              <a:gd name="adj" fmla="val 10000"/>
            </a:avLst>
          </a:prstGeom>
          <a:solidFill>
            <a:srgbClr val="3D332C"/>
          </a:solidFill>
          <a:ln>
            <a:noFill/>
          </a:ln>
          <a:effectLst/>
        </p:spPr>
        <p:style>
          <a:lnRef idx="1">
            <a:schemeClr val="accent1"/>
          </a:lnRef>
          <a:fillRef idx="3">
            <a:schemeClr val="accent1"/>
          </a:fillRef>
          <a:effectRef idx="2">
            <a:schemeClr val="accent1"/>
          </a:effectRef>
          <a:fontRef idx="minor">
            <a:schemeClr val="lt1"/>
          </a:fontRef>
        </p:style>
        <p:txBody>
          <a:bodyPr rtlCol="0" anchor="b" wrap="square" lIns="60000" rIns="60000" tIns="0" bIns="70000"/>
          <a:lstStyle/>
          <a:p>
            <a:pPr algn="ctr"/>
            <a:r>
              <a:rPr sz="1100" b="1" i="0">
                <a:solidFill>
                  <a:srgbClr val="FEFCF6"/>
                </a:solidFill>
                <a:latin typeface="Merriweather"/>
              </a:rPr>
              <a:t>Hybrid Fusion</a:t>
            </a:r>
          </a:p>
          <a:p>
            <a:pPr algn="ctr"/>
            <a:r>
              <a:rPr sz="900" b="0" i="0">
                <a:solidFill>
                  <a:srgbClr val="FEFCF6"/>
                </a:solidFill>
                <a:latin typeface="Source Serif 4"/>
              </a:rPr>
              <a:t>weighted blend</a:t>
            </a:r>
          </a:p>
        </p:txBody>
      </p:sp>
      <p:pic>
        <p:nvPicPr>
          <p:cNvPr id="60" name="Picture 59" descr="codebranch_red.png"/>
          <p:cNvPicPr>
            <a:picLocks noChangeAspect="1"/>
          </p:cNvPicPr>
          <p:nvPr/>
        </p:nvPicPr>
        <p:blipFill>
          <a:blip r:embed="rId6"/>
          <a:stretch>
            <a:fillRect/>
          </a:stretch>
        </p:blipFill>
        <p:spPr>
          <a:xfrm>
            <a:off x="6027000" y="1470000"/>
            <a:ext cx="340000" cy="340000"/>
          </a:xfrm>
          <a:prstGeom prst="rect">
            <a:avLst/>
          </a:prstGeom>
        </p:spPr>
      </p:pic>
      <p:sp>
        <p:nvSpPr>
          <p:cNvPr id="61" name="Chevron 60"/>
          <p:cNvSpPr/>
          <p:nvPr/>
        </p:nvSpPr>
        <p:spPr>
          <a:xfrm>
            <a:off x="6983000" y="2135000"/>
            <a:ext cx="53000" cy="180000"/>
          </a:xfrm>
          <a:prstGeom prst="chevron">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ounded Rectangle 61"/>
          <p:cNvSpPr/>
          <p:nvPr/>
        </p:nvSpPr>
        <p:spPr>
          <a:xfrm>
            <a:off x="7042000" y="1350000"/>
            <a:ext cx="1560000" cy="1750000"/>
          </a:xfrm>
          <a:prstGeom prst="roundRect">
            <a:avLst>
              <a:gd name="adj" fmla="val 10000"/>
            </a:avLst>
          </a:prstGeom>
          <a:solidFill>
            <a:srgbClr val="3D332C"/>
          </a:solidFill>
          <a:ln>
            <a:noFill/>
          </a:ln>
          <a:effectLst/>
        </p:spPr>
        <p:style>
          <a:lnRef idx="1">
            <a:schemeClr val="accent1"/>
          </a:lnRef>
          <a:fillRef idx="3">
            <a:schemeClr val="accent1"/>
          </a:fillRef>
          <a:effectRef idx="2">
            <a:schemeClr val="accent1"/>
          </a:effectRef>
          <a:fontRef idx="minor">
            <a:schemeClr val="lt1"/>
          </a:fontRef>
        </p:style>
        <p:txBody>
          <a:bodyPr rtlCol="0" anchor="b" wrap="square" lIns="60000" rIns="60000" tIns="0" bIns="70000"/>
          <a:lstStyle/>
          <a:p>
            <a:pPr algn="ctr"/>
            <a:r>
              <a:rPr sz="1100" b="1" i="0">
                <a:solidFill>
                  <a:srgbClr val="FEFCF6"/>
                </a:solidFill>
                <a:latin typeface="Merriweather"/>
              </a:rPr>
              <a:t>Display Top 5</a:t>
            </a:r>
          </a:p>
          <a:p>
            <a:pPr algn="ctr"/>
            <a:r>
              <a:rPr sz="900" b="0" i="0">
                <a:solidFill>
                  <a:srgbClr val="FEFCF6"/>
                </a:solidFill>
                <a:latin typeface="Source Serif 4"/>
              </a:rPr>
              <a:t>posters via API</a:t>
            </a:r>
          </a:p>
        </p:txBody>
      </p:sp>
      <p:pic>
        <p:nvPicPr>
          <p:cNvPr id="63" name="Picture 62" descr="laptopcode_red.png"/>
          <p:cNvPicPr>
            <a:picLocks noChangeAspect="1"/>
          </p:cNvPicPr>
          <p:nvPr/>
        </p:nvPicPr>
        <p:blipFill>
          <a:blip r:embed="rId7"/>
          <a:stretch>
            <a:fillRect/>
          </a:stretch>
        </p:blipFill>
        <p:spPr>
          <a:xfrm>
            <a:off x="7652000" y="1470000"/>
            <a:ext cx="340000" cy="340000"/>
          </a:xfrm>
          <a:prstGeom prst="rect">
            <a:avLst/>
          </a:prstGeom>
        </p:spPr>
      </p:pic>
      <p:sp>
        <p:nvSpPr>
          <p:cNvPr id="64" name="TextBox 63"/>
          <p:cNvSpPr txBox="1"/>
          <p:nvPr/>
        </p:nvSpPr>
        <p:spPr>
          <a:xfrm>
            <a:off x="469650" y="3320000"/>
            <a:ext cx="8204000" cy="900000"/>
          </a:xfrm>
          <a:prstGeom prst="rect">
            <a:avLst/>
          </a:prstGeom>
          <a:noFill/>
        </p:spPr>
        <p:txBody>
          <a:bodyPr wrap="square">
            <a:spAutoFit/>
          </a:bodyPr>
          <a:lstStyle/>
          <a:p>
            <a:pPr marL="182880" indent="-182880">
              <a:lnSpc>
                <a:spcPct val="118000"/>
              </a:lnSpc>
              <a:spcAft>
                <a:spcPts val="500"/>
              </a:spcAft>
              <a:buClr>
                <a:srgbClr val="C0392B"/>
              </a:buClr>
              <a:buFont typeface="Calibri"/>
              <a:buChar char="‣"/>
            </a:pPr>
            <a:r>
              <a:rPr sz="1150" b="0" i="0">
                <a:solidFill>
                  <a:srgbClr val="FEFCF6"/>
                </a:solidFill>
                <a:latin typeface="Source Serif 4"/>
              </a:rPr>
              <a:t>Runs end-to-end in real time inside the Streamlit app — no page reloads or waiting</a:t>
            </a:r>
          </a:p>
          <a:p>
            <a:pPr marL="182880" indent="-182880">
              <a:lnSpc>
                <a:spcPct val="118000"/>
              </a:lnSpc>
              <a:spcAft>
                <a:spcPts val="500"/>
              </a:spcAft>
              <a:buClr>
                <a:srgbClr val="C0392B"/>
              </a:buClr>
              <a:buFont typeface="Calibri"/>
              <a:buChar char="‣"/>
            </a:pPr>
            <a:r>
              <a:rPr sz="1150" b="0" i="0">
                <a:solidFill>
                  <a:srgbClr val="FEFCF6"/>
                </a:solidFill>
                <a:latin typeface="Source Serif 4"/>
              </a:rPr>
              <a:t>Both scores are precomputed and cached, so lookups stay fast even as usage grows</a:t>
            </a:r>
          </a:p>
          <a:p>
            <a:pPr marL="182880" indent="-182880">
              <a:lnSpc>
                <a:spcPct val="118000"/>
              </a:lnSpc>
              <a:spcAft>
                <a:spcPts val="500"/>
              </a:spcAft>
              <a:buClr>
                <a:srgbClr val="C0392B"/>
              </a:buClr>
              <a:buFont typeface="Calibri"/>
              <a:buChar char="‣"/>
            </a:pPr>
            <a:r>
              <a:rPr sz="1150" b="0" i="0">
                <a:solidFill>
                  <a:srgbClr val="FEFCF6"/>
                </a:solidFill>
                <a:latin typeface="Source Serif 4"/>
              </a:rPr>
              <a:t>Same workflow scales to any dataset size with no logic changes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Rectangle 46"/>
          <p:cNvSpPr/>
          <p:nvPr/>
        </p:nvSpPr>
        <p:spPr>
          <a:xfrm>
            <a:off x="476280" y="476280"/>
            <a:ext cx="8191080" cy="36144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70000" lnSpcReduction="19999"/>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 name="Rectangle 47"/>
          <p:cNvSpPr/>
          <p:nvPr/>
        </p:nvSpPr>
        <p:spPr>
          <a:xfrm>
            <a:off x="476280" y="1905120"/>
            <a:ext cx="8191080" cy="456840"/>
          </a:xfrm>
          <a:prstGeom prst="rect">
            <a:avLst/>
          </a:prstGeom>
          <a:noFill/>
          <a:ln w="0">
            <a:noFill/>
          </a:ln>
        </p:spPr>
        <p:style>
          <a:lnRef idx="0">
            <a:scrgbClr r="0" g="0" b="0"/>
          </a:lnRef>
          <a:fillRef idx="0">
            <a:scrgbClr r="0" g="0" b="0"/>
          </a:fillRef>
          <a:effectRef idx="0">
            <a:scrgbClr r="0" g="0" b="0"/>
          </a:effectRef>
          <a:fontRef idx="minor"/>
        </p:style>
        <p:txBody>
          <a:bodyPr anchor="t">
            <a:normAutofit lnSpcReduction="10000"/>
          </a:bodyPr>
          <a:lstStyle/>
          <a:p>
            <a:pPr defTabSz="914400">
              <a:lnSpc>
                <a:spcPct val="150000"/>
              </a:lnSpc>
              <a:tabLst>
                <a:tab pos="0" algn="l"/>
              </a:tabLst>
            </a:pPr>
            <a:endParaRPr lang="en-US" sz="1800" b="0" u="none" strike="noStrike">
              <a:solidFill>
                <a:srgbClr val="FFFFFF"/>
              </a:solidFill>
              <a:effectLst/>
              <a:uFillTx/>
              <a:latin typeface="OpenSymbol"/>
            </a:endParaRPr>
          </a:p>
        </p:txBody>
      </p:sp>
      <p:sp>
        <p:nvSpPr>
          <p:cNvPr id="49" name="Rounded Rectangle 48"/>
          <p:cNvSpPr/>
          <p:nvPr/>
        </p:nvSpPr>
        <p:spPr>
          <a:xfrm>
            <a:off x="469650" y="190000"/>
            <a:ext cx="600000" cy="600000"/>
          </a:xfrm>
          <a:prstGeom prst="roundRect">
            <a:avLst>
              <a:gd name="adj" fmla="val 28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0" name="Picture 49" descr="laptopcode_white.png"/>
          <p:cNvPicPr>
            <a:picLocks noChangeAspect="1"/>
          </p:cNvPicPr>
          <p:nvPr/>
        </p:nvPicPr>
        <p:blipFill>
          <a:blip r:embed="rId2"/>
          <a:stretch>
            <a:fillRect/>
          </a:stretch>
        </p:blipFill>
        <p:spPr>
          <a:xfrm>
            <a:off x="599650" y="320000"/>
            <a:ext cx="340000" cy="340000"/>
          </a:xfrm>
          <a:prstGeom prst="rect">
            <a:avLst/>
          </a:prstGeom>
        </p:spPr>
      </p:pic>
      <p:sp>
        <p:nvSpPr>
          <p:cNvPr id="51" name="TextBox 50"/>
          <p:cNvSpPr txBox="1"/>
          <p:nvPr/>
        </p:nvSpPr>
        <p:spPr>
          <a:xfrm>
            <a:off x="1249650" y="190000"/>
            <a:ext cx="7644000" cy="600000"/>
          </a:xfrm>
          <a:prstGeom prst="rect">
            <a:avLst/>
          </a:prstGeom>
          <a:noFill/>
        </p:spPr>
        <p:txBody>
          <a:bodyPr wrap="square" anchor="ctr">
            <a:spAutoFit/>
          </a:bodyPr>
          <a:lstStyle/>
          <a:p>
            <a:r>
              <a:rPr sz="2900" b="1" i="0">
                <a:solidFill>
                  <a:srgbClr val="FEFCF6"/>
                </a:solidFill>
                <a:latin typeface="Algerian"/>
              </a:rPr>
              <a:t>WEB APPLICATION</a:t>
            </a:r>
          </a:p>
        </p:txBody>
      </p:sp>
      <p:pic>
        <p:nvPicPr>
          <p:cNvPr id="52" name="Picture 51" descr="mobile_white.png"/>
          <p:cNvPicPr>
            <a:picLocks noChangeAspect="1"/>
          </p:cNvPicPr>
          <p:nvPr/>
        </p:nvPicPr>
        <p:blipFill>
          <a:blip r:embed="rId3"/>
          <a:stretch>
            <a:fillRect/>
          </a:stretch>
        </p:blipFill>
        <p:spPr>
          <a:xfrm>
            <a:off x="469650" y="1200000"/>
            <a:ext cx="230000" cy="230000"/>
          </a:xfrm>
          <a:prstGeom prst="rect">
            <a:avLst/>
          </a:prstGeom>
        </p:spPr>
      </p:pic>
      <p:sp>
        <p:nvSpPr>
          <p:cNvPr id="53" name="TextBox 52"/>
          <p:cNvSpPr txBox="1"/>
          <p:nvPr/>
        </p:nvSpPr>
        <p:spPr>
          <a:xfrm>
            <a:off x="759650" y="1150000"/>
            <a:ext cx="3800000" cy="400000"/>
          </a:xfrm>
          <a:prstGeom prst="rect">
            <a:avLst/>
          </a:prstGeom>
          <a:noFill/>
        </p:spPr>
        <p:txBody>
          <a:bodyPr wrap="square" anchor="ctr">
            <a:spAutoFit/>
          </a:bodyPr>
          <a:lstStyle/>
          <a:p>
            <a:r>
              <a:rPr sz="1500" b="1" i="0">
                <a:solidFill>
                  <a:srgbClr val="FEFCF6"/>
                </a:solidFill>
                <a:latin typeface="Merriweather"/>
              </a:rPr>
              <a:t>App Features</a:t>
            </a:r>
          </a:p>
        </p:txBody>
      </p:sp>
      <p:sp>
        <p:nvSpPr>
          <p:cNvPr id="54" name="TextBox 53"/>
          <p:cNvSpPr txBox="1"/>
          <p:nvPr/>
        </p:nvSpPr>
        <p:spPr>
          <a:xfrm>
            <a:off x="469650" y="1560000"/>
            <a:ext cx="4000000" cy="1850000"/>
          </a:xfrm>
          <a:prstGeom prst="rect">
            <a:avLst/>
          </a:prstGeom>
          <a:noFill/>
        </p:spPr>
        <p:txBody>
          <a:bodyPr wrap="square">
            <a:spAutoFit/>
          </a:bodyPr>
          <a:lstStyle/>
          <a:p>
            <a:pPr marL="182880" indent="-182880">
              <a:lnSpc>
                <a:spcPct val="118000"/>
              </a:lnSpc>
              <a:spcAft>
                <a:spcPts val="500"/>
              </a:spcAft>
              <a:buClr>
                <a:srgbClr val="C0392B"/>
              </a:buClr>
              <a:buFont typeface="Calibri"/>
              <a:buChar char="‣"/>
            </a:pPr>
            <a:r>
              <a:rPr sz="1100" b="0" i="0">
                <a:solidFill>
                  <a:srgbClr val="FEFCF6"/>
                </a:solidFill>
                <a:latin typeface="Source Serif 4"/>
              </a:rPr>
              <a:t>Built with Streamlit for a fast, interactive UI</a:t>
            </a:r>
          </a:p>
          <a:p>
            <a:pPr marL="182880" indent="-182880">
              <a:lnSpc>
                <a:spcPct val="118000"/>
              </a:lnSpc>
              <a:spcAft>
                <a:spcPts val="500"/>
              </a:spcAft>
              <a:buClr>
                <a:srgbClr val="C0392B"/>
              </a:buClr>
              <a:buFont typeface="Calibri"/>
              <a:buChar char="‣"/>
            </a:pPr>
            <a:r>
              <a:rPr sz="1100" b="0" i="0">
                <a:solidFill>
                  <a:srgbClr val="FEFCF6"/>
                </a:solidFill>
                <a:latin typeface="Source Serif 4"/>
              </a:rPr>
              <a:t>Dropdown lets users search and select any movie</a:t>
            </a:r>
          </a:p>
          <a:p>
            <a:pPr marL="182880" indent="-182880">
              <a:lnSpc>
                <a:spcPct val="118000"/>
              </a:lnSpc>
              <a:spcAft>
                <a:spcPts val="500"/>
              </a:spcAft>
              <a:buClr>
                <a:srgbClr val="C0392B"/>
              </a:buClr>
              <a:buFont typeface="Calibri"/>
              <a:buChar char="‣"/>
            </a:pPr>
            <a:r>
              <a:rPr sz="1100" b="0" i="0">
                <a:solidFill>
                  <a:srgbClr val="FEFCF6"/>
                </a:solidFill>
                <a:latin typeface="Source Serif 4"/>
              </a:rPr>
              <a:t>'Recommend' button triggers similarity lookup</a:t>
            </a:r>
          </a:p>
          <a:p>
            <a:pPr marL="182880" indent="-182880">
              <a:lnSpc>
                <a:spcPct val="118000"/>
              </a:lnSpc>
              <a:spcAft>
                <a:spcPts val="500"/>
              </a:spcAft>
              <a:buClr>
                <a:srgbClr val="C0392B"/>
              </a:buClr>
              <a:buFont typeface="Calibri"/>
              <a:buChar char="‣"/>
            </a:pPr>
            <a:r>
              <a:rPr sz="1100" b="0" i="0">
                <a:solidFill>
                  <a:srgbClr val="FEFCF6"/>
                </a:solidFill>
                <a:latin typeface="Source Serif 4"/>
              </a:rPr>
              <a:t>Displays top 5 movies as poster cards with titles</a:t>
            </a:r>
          </a:p>
        </p:txBody>
      </p:sp>
      <p:pic>
        <p:nvPicPr>
          <p:cNvPr id="55" name="Picture 54" descr="tools_white.png"/>
          <p:cNvPicPr>
            <a:picLocks noChangeAspect="1"/>
          </p:cNvPicPr>
          <p:nvPr/>
        </p:nvPicPr>
        <p:blipFill>
          <a:blip r:embed="rId4"/>
          <a:stretch>
            <a:fillRect/>
          </a:stretch>
        </p:blipFill>
        <p:spPr>
          <a:xfrm>
            <a:off x="4850000" y="1200000"/>
            <a:ext cx="230000" cy="230000"/>
          </a:xfrm>
          <a:prstGeom prst="rect">
            <a:avLst/>
          </a:prstGeom>
        </p:spPr>
      </p:pic>
      <p:sp>
        <p:nvSpPr>
          <p:cNvPr id="56" name="TextBox 55"/>
          <p:cNvSpPr txBox="1"/>
          <p:nvPr/>
        </p:nvSpPr>
        <p:spPr>
          <a:xfrm>
            <a:off x="5140000" y="1150000"/>
            <a:ext cx="3800000" cy="400000"/>
          </a:xfrm>
          <a:prstGeom prst="rect">
            <a:avLst/>
          </a:prstGeom>
          <a:noFill/>
        </p:spPr>
        <p:txBody>
          <a:bodyPr wrap="square" anchor="ctr">
            <a:spAutoFit/>
          </a:bodyPr>
          <a:lstStyle/>
          <a:p>
            <a:r>
              <a:rPr sz="1500" b="1" i="0">
                <a:solidFill>
                  <a:srgbClr val="FEFCF6"/>
                </a:solidFill>
                <a:latin typeface="Merriweather"/>
              </a:rPr>
              <a:t>Under the Hood</a:t>
            </a:r>
          </a:p>
        </p:txBody>
      </p:sp>
      <p:sp>
        <p:nvSpPr>
          <p:cNvPr id="57" name="TextBox 56"/>
          <p:cNvSpPr txBox="1"/>
          <p:nvPr/>
        </p:nvSpPr>
        <p:spPr>
          <a:xfrm>
            <a:off x="4850000" y="1560000"/>
            <a:ext cx="3850000" cy="1850000"/>
          </a:xfrm>
          <a:prstGeom prst="rect">
            <a:avLst/>
          </a:prstGeom>
          <a:noFill/>
        </p:spPr>
        <p:txBody>
          <a:bodyPr wrap="square">
            <a:spAutoFit/>
          </a:bodyPr>
          <a:lstStyle/>
          <a:p>
            <a:pPr marL="182880" indent="-182880">
              <a:lnSpc>
                <a:spcPct val="118000"/>
              </a:lnSpc>
              <a:spcAft>
                <a:spcPts val="500"/>
              </a:spcAft>
              <a:buClr>
                <a:srgbClr val="C0392B"/>
              </a:buClr>
              <a:buFont typeface="Calibri"/>
              <a:buChar char="‣"/>
            </a:pPr>
            <a:r>
              <a:rPr sz="1100" b="0" i="0">
                <a:solidFill>
                  <a:srgbClr val="FEFCF6"/>
                </a:solidFill>
                <a:latin typeface="Source Serif 4"/>
              </a:rPr>
              <a:t>Precomputed content + collaborative scores stored using Pickle</a:t>
            </a:r>
          </a:p>
          <a:p>
            <a:pPr marL="182880" indent="-182880">
              <a:lnSpc>
                <a:spcPct val="118000"/>
              </a:lnSpc>
              <a:spcAft>
                <a:spcPts val="500"/>
              </a:spcAft>
              <a:buClr>
                <a:srgbClr val="C0392B"/>
              </a:buClr>
              <a:buFont typeface="Calibri"/>
              <a:buChar char="‣"/>
            </a:pPr>
            <a:r>
              <a:rPr sz="1100" b="0" i="0">
                <a:solidFill>
                  <a:srgbClr val="FEFCF6"/>
                </a:solidFill>
                <a:latin typeface="Source Serif 4"/>
              </a:rPr>
              <a:t>TMDB API fetches live poster images and metadata</a:t>
            </a:r>
          </a:p>
          <a:p>
            <a:pPr marL="182880" indent="-182880">
              <a:lnSpc>
                <a:spcPct val="118000"/>
              </a:lnSpc>
              <a:spcAft>
                <a:spcPts val="500"/>
              </a:spcAft>
              <a:buClr>
                <a:srgbClr val="C0392B"/>
              </a:buClr>
              <a:buFont typeface="Calibri"/>
              <a:buChar char="‣"/>
            </a:pPr>
            <a:r>
              <a:rPr sz="1100" b="0" i="0">
                <a:solidFill>
                  <a:srgbClr val="FEFCF6"/>
                </a:solidFill>
                <a:latin typeface="Source Serif 4"/>
              </a:rPr>
              <a:t>Deployable free on Streamlit Cloud</a:t>
            </a:r>
          </a:p>
          <a:p>
            <a:pPr marL="182880" indent="-182880">
              <a:lnSpc>
                <a:spcPct val="118000"/>
              </a:lnSpc>
              <a:spcAft>
                <a:spcPts val="500"/>
              </a:spcAft>
              <a:buClr>
                <a:srgbClr val="C0392B"/>
              </a:buClr>
              <a:buFont typeface="Calibri"/>
              <a:buChar char="‣"/>
            </a:pPr>
            <a:r>
              <a:rPr sz="1100" b="0" i="0">
                <a:solidFill>
                  <a:srgbClr val="FEFCF6"/>
                </a:solidFill>
                <a:latin typeface="Source Serif 4"/>
              </a:rPr>
              <a:t>Responsive layout — desktop and mobile both</a:t>
            </a:r>
          </a:p>
        </p:txBody>
      </p:sp>
      <p:pic>
        <p:nvPicPr>
          <p:cNvPr id="58" name="Picture 57" descr="app_mockup.png"/>
          <p:cNvPicPr>
            <a:picLocks noChangeAspect="1"/>
          </p:cNvPicPr>
          <p:nvPr/>
        </p:nvPicPr>
        <p:blipFill>
          <a:blip r:embed="rId5"/>
          <a:stretch>
            <a:fillRect/>
          </a:stretch>
        </p:blipFill>
        <p:spPr>
          <a:xfrm>
            <a:off x="1350000" y="3300000"/>
            <a:ext cx="6450000" cy="1750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469650" y="190000"/>
            <a:ext cx="600000" cy="600000"/>
          </a:xfrm>
          <a:prstGeom prst="roundRect">
            <a:avLst>
              <a:gd name="adj" fmla="val 28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heckdouble_white.png"/>
          <p:cNvPicPr>
            <a:picLocks noChangeAspect="1"/>
          </p:cNvPicPr>
          <p:nvPr/>
        </p:nvPicPr>
        <p:blipFill>
          <a:blip r:embed="rId2"/>
          <a:stretch>
            <a:fillRect/>
          </a:stretch>
        </p:blipFill>
        <p:spPr>
          <a:xfrm>
            <a:off x="599650" y="320000"/>
            <a:ext cx="340000" cy="340000"/>
          </a:xfrm>
          <a:prstGeom prst="rect">
            <a:avLst/>
          </a:prstGeom>
        </p:spPr>
      </p:pic>
      <p:sp>
        <p:nvSpPr>
          <p:cNvPr id="4" name="TextBox 3"/>
          <p:cNvSpPr txBox="1"/>
          <p:nvPr/>
        </p:nvSpPr>
        <p:spPr>
          <a:xfrm>
            <a:off x="1249650" y="190000"/>
            <a:ext cx="7644000" cy="600000"/>
          </a:xfrm>
          <a:prstGeom prst="rect">
            <a:avLst/>
          </a:prstGeom>
          <a:noFill/>
        </p:spPr>
        <p:txBody>
          <a:bodyPr wrap="square" anchor="ctr">
            <a:spAutoFit/>
          </a:bodyPr>
          <a:lstStyle/>
          <a:p>
            <a:r>
              <a:rPr sz="2900" b="1" i="0">
                <a:solidFill>
                  <a:srgbClr val="FEFCF6"/>
                </a:solidFill>
                <a:latin typeface="Algerian"/>
              </a:rPr>
              <a:t>ADVANTAGES &amp; LIMITATIONS</a:t>
            </a:r>
          </a:p>
        </p:txBody>
      </p:sp>
      <p:pic>
        <p:nvPicPr>
          <p:cNvPr id="5" name="Picture 4" descr="thumbsup_white.png"/>
          <p:cNvPicPr>
            <a:picLocks noChangeAspect="1"/>
          </p:cNvPicPr>
          <p:nvPr/>
        </p:nvPicPr>
        <p:blipFill>
          <a:blip r:embed="rId3"/>
          <a:stretch>
            <a:fillRect/>
          </a:stretch>
        </p:blipFill>
        <p:spPr>
          <a:xfrm>
            <a:off x="469650" y="1200000"/>
            <a:ext cx="230000" cy="230000"/>
          </a:xfrm>
          <a:prstGeom prst="rect">
            <a:avLst/>
          </a:prstGeom>
        </p:spPr>
      </p:pic>
      <p:sp>
        <p:nvSpPr>
          <p:cNvPr id="6" name="TextBox 5"/>
          <p:cNvSpPr txBox="1"/>
          <p:nvPr/>
        </p:nvSpPr>
        <p:spPr>
          <a:xfrm>
            <a:off x="759650" y="1150000"/>
            <a:ext cx="3800000" cy="400000"/>
          </a:xfrm>
          <a:prstGeom prst="rect">
            <a:avLst/>
          </a:prstGeom>
          <a:noFill/>
        </p:spPr>
        <p:txBody>
          <a:bodyPr wrap="square" anchor="ctr">
            <a:spAutoFit/>
          </a:bodyPr>
          <a:lstStyle/>
          <a:p>
            <a:r>
              <a:rPr sz="1500" b="1" i="0">
                <a:solidFill>
                  <a:srgbClr val="FEFCF6"/>
                </a:solidFill>
                <a:latin typeface="Merriweather"/>
              </a:rPr>
              <a:t>Advantages</a:t>
            </a:r>
          </a:p>
        </p:txBody>
      </p:sp>
      <p:sp>
        <p:nvSpPr>
          <p:cNvPr id="7" name="TextBox 6"/>
          <p:cNvSpPr txBox="1"/>
          <p:nvPr/>
        </p:nvSpPr>
        <p:spPr>
          <a:xfrm>
            <a:off x="469650" y="1560000"/>
            <a:ext cx="4000000" cy="3300000"/>
          </a:xfrm>
          <a:prstGeom prst="rect">
            <a:avLst/>
          </a:prstGeom>
          <a:noFill/>
        </p:spPr>
        <p:txBody>
          <a:bodyPr wrap="square">
            <a:spAutoFit/>
          </a:bodyPr>
          <a:lstStyle/>
          <a:p>
            <a:pPr marL="182880" indent="-182880">
              <a:lnSpc>
                <a:spcPct val="118000"/>
              </a:lnSpc>
              <a:spcAft>
                <a:spcPts val="500"/>
              </a:spcAft>
              <a:buClr>
                <a:srgbClr val="C0392B"/>
              </a:buClr>
              <a:buFont typeface="Calibri"/>
              <a:buChar char="‣"/>
            </a:pPr>
            <a:r>
              <a:rPr sz="1150" b="0" i="0">
                <a:solidFill>
                  <a:srgbClr val="FEFCF6"/>
                </a:solidFill>
                <a:latin typeface="Source Serif 4"/>
              </a:rPr>
              <a:t>Solves cold-start better than pure collaborative filtering — new movies still get a content score</a:t>
            </a:r>
          </a:p>
          <a:p>
            <a:pPr marL="182880" indent="-182880">
              <a:lnSpc>
                <a:spcPct val="118000"/>
              </a:lnSpc>
              <a:spcAft>
                <a:spcPts val="500"/>
              </a:spcAft>
              <a:buClr>
                <a:srgbClr val="C0392B"/>
              </a:buClr>
              <a:buFont typeface="Calibri"/>
              <a:buChar char="‣"/>
            </a:pPr>
            <a:r>
              <a:rPr sz="1150" b="0" i="0">
                <a:solidFill>
                  <a:srgbClr val="FEFCF6"/>
                </a:solidFill>
                <a:latin typeface="Source Serif 4"/>
              </a:rPr>
              <a:t>More personalized than pure content-based — learns individual taste from ratings</a:t>
            </a:r>
          </a:p>
          <a:p>
            <a:pPr marL="182880" indent="-182880">
              <a:lnSpc>
                <a:spcPct val="118000"/>
              </a:lnSpc>
              <a:spcAft>
                <a:spcPts val="500"/>
              </a:spcAft>
              <a:buClr>
                <a:srgbClr val="C0392B"/>
              </a:buClr>
              <a:buFont typeface="Calibri"/>
              <a:buChar char="‣"/>
            </a:pPr>
            <a:r>
              <a:rPr sz="1150" b="0" i="0">
                <a:solidFill>
                  <a:srgbClr val="FEFCF6"/>
                </a:solidFill>
                <a:latin typeface="Source Serif 4"/>
              </a:rPr>
              <a:t>Balances metadata similarity with real user behavior</a:t>
            </a:r>
          </a:p>
          <a:p>
            <a:pPr marL="182880" indent="-182880">
              <a:lnSpc>
                <a:spcPct val="118000"/>
              </a:lnSpc>
              <a:spcAft>
                <a:spcPts val="500"/>
              </a:spcAft>
              <a:buClr>
                <a:srgbClr val="C0392B"/>
              </a:buClr>
              <a:buFont typeface="Calibri"/>
              <a:buChar char="‣"/>
            </a:pPr>
            <a:r>
              <a:rPr sz="1150" b="0" i="0">
                <a:solidFill>
                  <a:srgbClr val="FEFCF6"/>
                </a:solidFill>
                <a:latin typeface="Source Serif 4"/>
              </a:rPr>
              <a:t>Blending weight (α) is tunable to the use case</a:t>
            </a:r>
          </a:p>
          <a:p>
            <a:pPr marL="182880" indent="-182880">
              <a:lnSpc>
                <a:spcPct val="118000"/>
              </a:lnSpc>
              <a:spcAft>
                <a:spcPts val="500"/>
              </a:spcAft>
              <a:buClr>
                <a:srgbClr val="C0392B"/>
              </a:buClr>
              <a:buFont typeface="Calibri"/>
              <a:buChar char="‣"/>
            </a:pPr>
            <a:r>
              <a:rPr sz="1150" b="0" i="0">
                <a:solidFill>
                  <a:srgbClr val="FEFCF6"/>
                </a:solidFill>
                <a:latin typeface="Source Serif 4"/>
              </a:rPr>
              <a:t>Generally more accurate than either method used alone</a:t>
            </a:r>
          </a:p>
        </p:txBody>
      </p:sp>
      <p:pic>
        <p:nvPicPr>
          <p:cNvPr id="8" name="Picture 7" descr="warning_white.png"/>
          <p:cNvPicPr>
            <a:picLocks noChangeAspect="1"/>
          </p:cNvPicPr>
          <p:nvPr/>
        </p:nvPicPr>
        <p:blipFill>
          <a:blip r:embed="rId4"/>
          <a:stretch>
            <a:fillRect/>
          </a:stretch>
        </p:blipFill>
        <p:spPr>
          <a:xfrm>
            <a:off x="4850000" y="1200000"/>
            <a:ext cx="230000" cy="230000"/>
          </a:xfrm>
          <a:prstGeom prst="rect">
            <a:avLst/>
          </a:prstGeom>
        </p:spPr>
      </p:pic>
      <p:sp>
        <p:nvSpPr>
          <p:cNvPr id="9" name="TextBox 8"/>
          <p:cNvSpPr txBox="1"/>
          <p:nvPr/>
        </p:nvSpPr>
        <p:spPr>
          <a:xfrm>
            <a:off x="5140000" y="1150000"/>
            <a:ext cx="3800000" cy="400000"/>
          </a:xfrm>
          <a:prstGeom prst="rect">
            <a:avLst/>
          </a:prstGeom>
          <a:noFill/>
        </p:spPr>
        <p:txBody>
          <a:bodyPr wrap="square" anchor="ctr">
            <a:spAutoFit/>
          </a:bodyPr>
          <a:lstStyle/>
          <a:p>
            <a:r>
              <a:rPr sz="1500" b="1" i="0">
                <a:solidFill>
                  <a:srgbClr val="FEFCF6"/>
                </a:solidFill>
                <a:latin typeface="Merriweather"/>
              </a:rPr>
              <a:t>Limitations</a:t>
            </a:r>
          </a:p>
        </p:txBody>
      </p:sp>
      <p:sp>
        <p:nvSpPr>
          <p:cNvPr id="10" name="TextBox 9"/>
          <p:cNvSpPr txBox="1"/>
          <p:nvPr/>
        </p:nvSpPr>
        <p:spPr>
          <a:xfrm>
            <a:off x="4850000" y="1560000"/>
            <a:ext cx="3850000" cy="3300000"/>
          </a:xfrm>
          <a:prstGeom prst="rect">
            <a:avLst/>
          </a:prstGeom>
          <a:noFill/>
        </p:spPr>
        <p:txBody>
          <a:bodyPr wrap="square">
            <a:spAutoFit/>
          </a:bodyPr>
          <a:lstStyle/>
          <a:p>
            <a:pPr marL="182880" indent="-182880">
              <a:lnSpc>
                <a:spcPct val="118000"/>
              </a:lnSpc>
              <a:spcAft>
                <a:spcPts val="500"/>
              </a:spcAft>
              <a:buClr>
                <a:srgbClr val="C0392B"/>
              </a:buClr>
              <a:buFont typeface="Calibri"/>
              <a:buChar char="‣"/>
            </a:pPr>
            <a:r>
              <a:rPr sz="1150" b="0" i="0">
                <a:solidFill>
                  <a:srgbClr val="FEFCF6"/>
                </a:solidFill>
                <a:latin typeface="Source Serif 4"/>
              </a:rPr>
              <a:t>Needs both movie metadata and user rating data to work well</a:t>
            </a:r>
          </a:p>
          <a:p>
            <a:pPr marL="182880" indent="-182880">
              <a:lnSpc>
                <a:spcPct val="118000"/>
              </a:lnSpc>
              <a:spcAft>
                <a:spcPts val="500"/>
              </a:spcAft>
              <a:buClr>
                <a:srgbClr val="C0392B"/>
              </a:buClr>
              <a:buFont typeface="Calibri"/>
              <a:buChar char="‣"/>
            </a:pPr>
            <a:r>
              <a:rPr sz="1150" b="0" i="0">
                <a:solidFill>
                  <a:srgbClr val="FEFCF6"/>
                </a:solidFill>
                <a:latin typeface="Source Serif 4"/>
              </a:rPr>
              <a:t>More complex to build, tune, and maintain than a single-method system</a:t>
            </a:r>
          </a:p>
          <a:p>
            <a:pPr marL="182880" indent="-182880">
              <a:lnSpc>
                <a:spcPct val="118000"/>
              </a:lnSpc>
              <a:spcAft>
                <a:spcPts val="500"/>
              </a:spcAft>
              <a:buClr>
                <a:srgbClr val="C0392B"/>
              </a:buClr>
              <a:buFont typeface="Calibri"/>
              <a:buChar char="‣"/>
            </a:pPr>
            <a:r>
              <a:rPr sz="1150" b="0" i="0">
                <a:solidFill>
                  <a:srgbClr val="FEFCF6"/>
                </a:solidFill>
                <a:latin typeface="Source Serif 4"/>
              </a:rPr>
              <a:t>Still faces cold start for brand-new users with zero ratings</a:t>
            </a:r>
          </a:p>
          <a:p>
            <a:pPr marL="182880" indent="-182880">
              <a:lnSpc>
                <a:spcPct val="118000"/>
              </a:lnSpc>
              <a:spcAft>
                <a:spcPts val="500"/>
              </a:spcAft>
              <a:buClr>
                <a:srgbClr val="C0392B"/>
              </a:buClr>
              <a:buFont typeface="Calibri"/>
              <a:buChar char="‣"/>
            </a:pPr>
            <a:r>
              <a:rPr sz="1150" b="0" i="0">
                <a:solidFill>
                  <a:srgbClr val="FEFCF6"/>
                </a:solidFill>
                <a:latin typeface="Source Serif 4"/>
              </a:rPr>
              <a:t>Matrix factorization needs enough ratings data to be reliable</a:t>
            </a:r>
          </a:p>
          <a:p>
            <a:pPr marL="182880" indent="-182880">
              <a:lnSpc>
                <a:spcPct val="118000"/>
              </a:lnSpc>
              <a:spcAft>
                <a:spcPts val="500"/>
              </a:spcAft>
              <a:buClr>
                <a:srgbClr val="C0392B"/>
              </a:buClr>
              <a:buFont typeface="Calibri"/>
              <a:buChar char="‣"/>
            </a:pPr>
            <a:r>
              <a:rPr sz="1150" b="0" i="0">
                <a:solidFill>
                  <a:srgbClr val="FEFCF6"/>
                </a:solidFill>
                <a:latin typeface="Source Serif 4"/>
              </a:rPr>
              <a:t>Requires careful tuning of the blending weight α</a:t>
            </a:r>
          </a:p>
        </p:txBody>
      </p:sp>
      <p:sp>
        <p:nvSpPr>
          <p:cNvPr id="11" name="TextBox 10"/>
          <p:cNvSpPr txBox="1"/>
          <p:nvPr/>
        </p:nvSpPr>
        <p:spPr>
          <a:xfrm>
            <a:off x="469650" y="4700000"/>
            <a:ext cx="8204000" cy="350000"/>
          </a:xfrm>
          <a:prstGeom prst="rect">
            <a:avLst/>
          </a:prstGeom>
          <a:noFill/>
        </p:spPr>
        <p:txBody>
          <a:bodyPr wrap="square">
            <a:spAutoFit/>
          </a:bodyPr>
          <a:lstStyle/>
          <a:p>
            <a:pPr algn="l"/>
            <a:r>
              <a:rPr sz="1000" b="0" i="0">
                <a:solidFill>
                  <a:srgbClr val="B8AEA4"/>
                </a:solidFill>
                <a:latin typeface="Source Serif 4"/>
              </a:rPr>
              <a:t>Overall: the hybrid approach trades some simplicity for meaningfully better accuracy and personalization.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469650" y="190000"/>
            <a:ext cx="600000" cy="600000"/>
          </a:xfrm>
          <a:prstGeom prst="roundRect">
            <a:avLst>
              <a:gd name="adj" fmla="val 28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bullseye_white.png"/>
          <p:cNvPicPr>
            <a:picLocks noChangeAspect="1"/>
          </p:cNvPicPr>
          <p:nvPr/>
        </p:nvPicPr>
        <p:blipFill>
          <a:blip r:embed="rId2"/>
          <a:stretch>
            <a:fillRect/>
          </a:stretch>
        </p:blipFill>
        <p:spPr>
          <a:xfrm>
            <a:off x="599650" y="320000"/>
            <a:ext cx="340000" cy="340000"/>
          </a:xfrm>
          <a:prstGeom prst="rect">
            <a:avLst/>
          </a:prstGeom>
        </p:spPr>
      </p:pic>
      <p:sp>
        <p:nvSpPr>
          <p:cNvPr id="4" name="TextBox 3"/>
          <p:cNvSpPr txBox="1"/>
          <p:nvPr/>
        </p:nvSpPr>
        <p:spPr>
          <a:xfrm>
            <a:off x="1249650" y="190000"/>
            <a:ext cx="7644000" cy="600000"/>
          </a:xfrm>
          <a:prstGeom prst="rect">
            <a:avLst/>
          </a:prstGeom>
          <a:noFill/>
        </p:spPr>
        <p:txBody>
          <a:bodyPr wrap="square" anchor="ctr">
            <a:spAutoFit/>
          </a:bodyPr>
          <a:lstStyle/>
          <a:p>
            <a:r>
              <a:rPr sz="2900" b="1" i="0">
                <a:solidFill>
                  <a:srgbClr val="FEFCF6"/>
                </a:solidFill>
                <a:latin typeface="Algerian"/>
              </a:rPr>
              <a:t>CONCLUSION &amp; FUTURE SCOPE</a:t>
            </a:r>
          </a:p>
        </p:txBody>
      </p:sp>
      <p:pic>
        <p:nvPicPr>
          <p:cNvPr id="5" name="Picture 4" descr="flag_white.png"/>
          <p:cNvPicPr>
            <a:picLocks noChangeAspect="1"/>
          </p:cNvPicPr>
          <p:nvPr/>
        </p:nvPicPr>
        <p:blipFill>
          <a:blip r:embed="rId3"/>
          <a:stretch>
            <a:fillRect/>
          </a:stretch>
        </p:blipFill>
        <p:spPr>
          <a:xfrm>
            <a:off x="469650" y="1200000"/>
            <a:ext cx="230000" cy="230000"/>
          </a:xfrm>
          <a:prstGeom prst="rect">
            <a:avLst/>
          </a:prstGeom>
        </p:spPr>
      </p:pic>
      <p:sp>
        <p:nvSpPr>
          <p:cNvPr id="6" name="TextBox 5"/>
          <p:cNvSpPr txBox="1"/>
          <p:nvPr/>
        </p:nvSpPr>
        <p:spPr>
          <a:xfrm>
            <a:off x="759650" y="1150000"/>
            <a:ext cx="3800000" cy="400000"/>
          </a:xfrm>
          <a:prstGeom prst="rect">
            <a:avLst/>
          </a:prstGeom>
          <a:noFill/>
        </p:spPr>
        <p:txBody>
          <a:bodyPr wrap="square" anchor="ctr">
            <a:spAutoFit/>
          </a:bodyPr>
          <a:lstStyle/>
          <a:p>
            <a:r>
              <a:rPr sz="1500" b="1" i="0">
                <a:solidFill>
                  <a:srgbClr val="FEFCF6"/>
                </a:solidFill>
                <a:latin typeface="Merriweather"/>
              </a:rPr>
              <a:t>Conclusion</a:t>
            </a:r>
          </a:p>
        </p:txBody>
      </p:sp>
      <p:sp>
        <p:nvSpPr>
          <p:cNvPr id="7" name="TextBox 6"/>
          <p:cNvSpPr txBox="1"/>
          <p:nvPr/>
        </p:nvSpPr>
        <p:spPr>
          <a:xfrm>
            <a:off x="469650" y="1560000"/>
            <a:ext cx="4000000" cy="3300000"/>
          </a:xfrm>
          <a:prstGeom prst="rect">
            <a:avLst/>
          </a:prstGeom>
          <a:noFill/>
        </p:spPr>
        <p:txBody>
          <a:bodyPr wrap="square">
            <a:spAutoFit/>
          </a:bodyPr>
          <a:lstStyle/>
          <a:p>
            <a:pPr marL="182880" indent="-182880">
              <a:lnSpc>
                <a:spcPct val="118000"/>
              </a:lnSpc>
              <a:spcAft>
                <a:spcPts val="500"/>
              </a:spcAft>
              <a:buClr>
                <a:srgbClr val="C0392B"/>
              </a:buClr>
              <a:buFont typeface="Calibri"/>
              <a:buChar char="‣"/>
            </a:pPr>
            <a:r>
              <a:rPr sz="1150" b="0" i="0">
                <a:solidFill>
                  <a:srgbClr val="FEFCF6"/>
                </a:solidFill>
                <a:latin typeface="Source Serif 4"/>
              </a:rPr>
              <a:t>Built a hybrid movie recommender combining content-based and collaborative filtering</a:t>
            </a:r>
          </a:p>
          <a:p>
            <a:pPr marL="182880" indent="-182880">
              <a:lnSpc>
                <a:spcPct val="118000"/>
              </a:lnSpc>
              <a:spcAft>
                <a:spcPts val="500"/>
              </a:spcAft>
              <a:buClr>
                <a:srgbClr val="C0392B"/>
              </a:buClr>
              <a:buFont typeface="Calibri"/>
              <a:buChar char="‣"/>
            </a:pPr>
            <a:r>
              <a:rPr sz="1150" b="0" i="0">
                <a:solidFill>
                  <a:srgbClr val="FEFCF6"/>
                </a:solidFill>
                <a:latin typeface="Source Serif 4"/>
              </a:rPr>
              <a:t>Balances metadata similarity with real user rating patterns</a:t>
            </a:r>
          </a:p>
          <a:p>
            <a:pPr marL="182880" indent="-182880">
              <a:lnSpc>
                <a:spcPct val="118000"/>
              </a:lnSpc>
              <a:spcAft>
                <a:spcPts val="500"/>
              </a:spcAft>
              <a:buClr>
                <a:srgbClr val="C0392B"/>
              </a:buClr>
              <a:buFont typeface="Calibri"/>
              <a:buChar char="‣"/>
            </a:pPr>
            <a:r>
              <a:rPr sz="1150" b="0" i="0">
                <a:solidFill>
                  <a:srgbClr val="FEFCF6"/>
                </a:solidFill>
                <a:latin typeface="Source Serif 4"/>
              </a:rPr>
              <a:t>Delivers more accurate, personalized top-5 recommendations</a:t>
            </a:r>
          </a:p>
          <a:p>
            <a:pPr marL="182880" indent="-182880">
              <a:lnSpc>
                <a:spcPct val="118000"/>
              </a:lnSpc>
              <a:spcAft>
                <a:spcPts val="500"/>
              </a:spcAft>
              <a:buClr>
                <a:srgbClr val="C0392B"/>
              </a:buClr>
              <a:buFont typeface="Calibri"/>
              <a:buChar char="‣"/>
            </a:pPr>
            <a:r>
              <a:rPr sz="1150" b="0" i="0">
                <a:solidFill>
                  <a:srgbClr val="FEFCF6"/>
                </a:solidFill>
                <a:latin typeface="Source Serif 4"/>
              </a:rPr>
              <a:t>Deployed as an interactive Streamlit web app</a:t>
            </a:r>
          </a:p>
          <a:p>
            <a:pPr marL="182880" indent="-182880">
              <a:lnSpc>
                <a:spcPct val="118000"/>
              </a:lnSpc>
              <a:spcAft>
                <a:spcPts val="500"/>
              </a:spcAft>
              <a:buClr>
                <a:srgbClr val="C0392B"/>
              </a:buClr>
              <a:buFont typeface="Calibri"/>
              <a:buChar char="‣"/>
            </a:pPr>
            <a:r>
              <a:rPr sz="1150" b="0" i="0">
                <a:solidFill>
                  <a:srgbClr val="FEFCF6"/>
                </a:solidFill>
                <a:latin typeface="Source Serif 4"/>
              </a:rPr>
              <a:t>Demonstrates a complete, production-style hybrid ML pipeline</a:t>
            </a:r>
          </a:p>
        </p:txBody>
      </p:sp>
      <p:pic>
        <p:nvPicPr>
          <p:cNvPr id="8" name="Picture 7" descr="rocket_white.png"/>
          <p:cNvPicPr>
            <a:picLocks noChangeAspect="1"/>
          </p:cNvPicPr>
          <p:nvPr/>
        </p:nvPicPr>
        <p:blipFill>
          <a:blip r:embed="rId4"/>
          <a:stretch>
            <a:fillRect/>
          </a:stretch>
        </p:blipFill>
        <p:spPr>
          <a:xfrm>
            <a:off x="4850000" y="1200000"/>
            <a:ext cx="230000" cy="230000"/>
          </a:xfrm>
          <a:prstGeom prst="rect">
            <a:avLst/>
          </a:prstGeom>
        </p:spPr>
      </p:pic>
      <p:sp>
        <p:nvSpPr>
          <p:cNvPr id="9" name="TextBox 8"/>
          <p:cNvSpPr txBox="1"/>
          <p:nvPr/>
        </p:nvSpPr>
        <p:spPr>
          <a:xfrm>
            <a:off x="5140000" y="1150000"/>
            <a:ext cx="3800000" cy="400000"/>
          </a:xfrm>
          <a:prstGeom prst="rect">
            <a:avLst/>
          </a:prstGeom>
          <a:noFill/>
        </p:spPr>
        <p:txBody>
          <a:bodyPr wrap="square" anchor="ctr">
            <a:spAutoFit/>
          </a:bodyPr>
          <a:lstStyle/>
          <a:p>
            <a:r>
              <a:rPr sz="1500" b="1" i="0">
                <a:solidFill>
                  <a:srgbClr val="FEFCF6"/>
                </a:solidFill>
                <a:latin typeface="Merriweather"/>
              </a:rPr>
              <a:t>Future Scope</a:t>
            </a:r>
          </a:p>
        </p:txBody>
      </p:sp>
      <p:sp>
        <p:nvSpPr>
          <p:cNvPr id="10" name="TextBox 9"/>
          <p:cNvSpPr txBox="1"/>
          <p:nvPr/>
        </p:nvSpPr>
        <p:spPr>
          <a:xfrm>
            <a:off x="4850000" y="1560000"/>
            <a:ext cx="3850000" cy="3300000"/>
          </a:xfrm>
          <a:prstGeom prst="rect">
            <a:avLst/>
          </a:prstGeom>
          <a:noFill/>
        </p:spPr>
        <p:txBody>
          <a:bodyPr wrap="square">
            <a:spAutoFit/>
          </a:bodyPr>
          <a:lstStyle/>
          <a:p>
            <a:pPr marL="182880" indent="-182880">
              <a:lnSpc>
                <a:spcPct val="118000"/>
              </a:lnSpc>
              <a:spcAft>
                <a:spcPts val="500"/>
              </a:spcAft>
              <a:buClr>
                <a:srgbClr val="C0392B"/>
              </a:buClr>
              <a:buFont typeface="Calibri"/>
              <a:buChar char="‣"/>
            </a:pPr>
            <a:r>
              <a:rPr sz="1150" b="0" i="0">
                <a:solidFill>
                  <a:srgbClr val="FEFCF6"/>
                </a:solidFill>
                <a:latin typeface="Source Serif 4"/>
              </a:rPr>
              <a:t>Auto-tune the blending weight α using validation data</a:t>
            </a:r>
          </a:p>
          <a:p>
            <a:pPr marL="182880" indent="-182880">
              <a:lnSpc>
                <a:spcPct val="118000"/>
              </a:lnSpc>
              <a:spcAft>
                <a:spcPts val="500"/>
              </a:spcAft>
              <a:buClr>
                <a:srgbClr val="C0392B"/>
              </a:buClr>
              <a:buFont typeface="Calibri"/>
              <a:buChar char="‣"/>
            </a:pPr>
            <a:r>
              <a:rPr sz="1150" b="0" i="0">
                <a:solidFill>
                  <a:srgbClr val="FEFCF6"/>
                </a:solidFill>
                <a:latin typeface="Source Serif 4"/>
              </a:rPr>
              <a:t>Explore deep learning-based hybrid models (neural collaborative filtering)</a:t>
            </a:r>
          </a:p>
          <a:p>
            <a:pPr marL="182880" indent="-182880">
              <a:lnSpc>
                <a:spcPct val="118000"/>
              </a:lnSpc>
              <a:spcAft>
                <a:spcPts val="500"/>
              </a:spcAft>
              <a:buClr>
                <a:srgbClr val="C0392B"/>
              </a:buClr>
              <a:buFont typeface="Calibri"/>
              <a:buChar char="‣"/>
            </a:pPr>
            <a:r>
              <a:rPr sz="1150" b="0" i="0">
                <a:solidFill>
                  <a:srgbClr val="FEFCF6"/>
                </a:solidFill>
                <a:latin typeface="Source Serif 4"/>
              </a:rPr>
              <a:t>Incorporate implicit feedback — clicks, watch time, skips</a:t>
            </a:r>
          </a:p>
          <a:p>
            <a:pPr marL="182880" indent="-182880">
              <a:lnSpc>
                <a:spcPct val="118000"/>
              </a:lnSpc>
              <a:spcAft>
                <a:spcPts val="500"/>
              </a:spcAft>
              <a:buClr>
                <a:srgbClr val="C0392B"/>
              </a:buClr>
              <a:buFont typeface="Calibri"/>
              <a:buChar char="‣"/>
            </a:pPr>
            <a:r>
              <a:rPr sz="1150" b="0" i="0">
                <a:solidFill>
                  <a:srgbClr val="FEFCF6"/>
                </a:solidFill>
                <a:latin typeface="Source Serif 4"/>
              </a:rPr>
              <a:t>Add user login for continuously evolving taste profiles</a:t>
            </a:r>
          </a:p>
          <a:p>
            <a:pPr marL="182880" indent="-182880">
              <a:lnSpc>
                <a:spcPct val="118000"/>
              </a:lnSpc>
              <a:spcAft>
                <a:spcPts val="500"/>
              </a:spcAft>
              <a:buClr>
                <a:srgbClr val="C0392B"/>
              </a:buClr>
              <a:buFont typeface="Calibri"/>
              <a:buChar char="‣"/>
            </a:pPr>
            <a:r>
              <a:rPr sz="1150" b="0" i="0">
                <a:solidFill>
                  <a:srgbClr val="FEFCF6"/>
                </a:solidFill>
                <a:latin typeface="Source Serif 4"/>
              </a:rPr>
              <a:t>Deploy at scale with real-time rating updates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469650" y="190000"/>
            <a:ext cx="600000" cy="600000"/>
          </a:xfrm>
          <a:prstGeom prst="roundRect">
            <a:avLst>
              <a:gd name="adj" fmla="val 28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users_white.png"/>
          <p:cNvPicPr>
            <a:picLocks noChangeAspect="1"/>
          </p:cNvPicPr>
          <p:nvPr/>
        </p:nvPicPr>
        <p:blipFill>
          <a:blip r:embed="rId2"/>
          <a:stretch>
            <a:fillRect/>
          </a:stretch>
        </p:blipFill>
        <p:spPr>
          <a:xfrm>
            <a:off x="599650" y="320000"/>
            <a:ext cx="340000" cy="340000"/>
          </a:xfrm>
          <a:prstGeom prst="rect">
            <a:avLst/>
          </a:prstGeom>
        </p:spPr>
      </p:pic>
      <p:sp>
        <p:nvSpPr>
          <p:cNvPr id="4" name="TextBox 3"/>
          <p:cNvSpPr txBox="1"/>
          <p:nvPr/>
        </p:nvSpPr>
        <p:spPr>
          <a:xfrm>
            <a:off x="1249650" y="190000"/>
            <a:ext cx="7644000" cy="600000"/>
          </a:xfrm>
          <a:prstGeom prst="rect">
            <a:avLst/>
          </a:prstGeom>
          <a:noFill/>
        </p:spPr>
        <p:txBody>
          <a:bodyPr wrap="square" anchor="ctr">
            <a:spAutoFit/>
          </a:bodyPr>
          <a:lstStyle/>
          <a:p>
            <a:r>
              <a:rPr sz="2900" b="1" i="0">
                <a:solidFill>
                  <a:srgbClr val="FEFCF6"/>
                </a:solidFill>
                <a:latin typeface="Algerian"/>
              </a:rPr>
              <a:t>COLLABORATIVE SCORE</a:t>
            </a:r>
          </a:p>
        </p:txBody>
      </p:sp>
      <p:pic>
        <p:nvPicPr>
          <p:cNvPr id="5" name="Picture 4" descr="lightbulb_white.png"/>
          <p:cNvPicPr>
            <a:picLocks noChangeAspect="1"/>
          </p:cNvPicPr>
          <p:nvPr/>
        </p:nvPicPr>
        <p:blipFill>
          <a:blip r:embed="rId3"/>
          <a:stretch>
            <a:fillRect/>
          </a:stretch>
        </p:blipFill>
        <p:spPr>
          <a:xfrm>
            <a:off x="469650" y="1200000"/>
            <a:ext cx="230000" cy="230000"/>
          </a:xfrm>
          <a:prstGeom prst="rect">
            <a:avLst/>
          </a:prstGeom>
        </p:spPr>
      </p:pic>
      <p:sp>
        <p:nvSpPr>
          <p:cNvPr id="6" name="TextBox 5"/>
          <p:cNvSpPr txBox="1"/>
          <p:nvPr/>
        </p:nvSpPr>
        <p:spPr>
          <a:xfrm>
            <a:off x="759650" y="1150000"/>
            <a:ext cx="3800000" cy="400000"/>
          </a:xfrm>
          <a:prstGeom prst="rect">
            <a:avLst/>
          </a:prstGeom>
          <a:noFill/>
        </p:spPr>
        <p:txBody>
          <a:bodyPr wrap="square" anchor="ctr">
            <a:spAutoFit/>
          </a:bodyPr>
          <a:lstStyle/>
          <a:p>
            <a:r>
              <a:rPr sz="1500" b="1" i="0">
                <a:solidFill>
                  <a:srgbClr val="FEFCF6"/>
                </a:solidFill>
                <a:latin typeface="Merriweather"/>
              </a:rPr>
              <a:t>Concept</a:t>
            </a:r>
          </a:p>
        </p:txBody>
      </p:sp>
      <p:sp>
        <p:nvSpPr>
          <p:cNvPr id="7" name="TextBox 6"/>
          <p:cNvSpPr txBox="1"/>
          <p:nvPr/>
        </p:nvSpPr>
        <p:spPr>
          <a:xfrm>
            <a:off x="469650" y="1560000"/>
            <a:ext cx="3950000" cy="2650000"/>
          </a:xfrm>
          <a:prstGeom prst="rect">
            <a:avLst/>
          </a:prstGeom>
          <a:noFill/>
        </p:spPr>
        <p:txBody>
          <a:bodyPr wrap="square">
            <a:spAutoFit/>
          </a:bodyPr>
          <a:lstStyle/>
          <a:p>
            <a:pPr marL="182880" indent="-182880">
              <a:lnSpc>
                <a:spcPct val="118000"/>
              </a:lnSpc>
              <a:spcAft>
                <a:spcPts val="500"/>
              </a:spcAft>
              <a:buClr>
                <a:srgbClr val="C0392B"/>
              </a:buClr>
              <a:buFont typeface="Calibri"/>
              <a:buChar char="‣"/>
            </a:pPr>
            <a:r>
              <a:rPr sz="1150" b="0" i="0">
                <a:solidFill>
                  <a:srgbClr val="FEFCF6"/>
                </a:solidFill>
                <a:latin typeface="Source Serif 4"/>
              </a:rPr>
              <a:t>Builds a user-item ratings matrix — rows are users, columns are movies</a:t>
            </a:r>
          </a:p>
          <a:p>
            <a:pPr marL="182880" indent="-182880">
              <a:lnSpc>
                <a:spcPct val="118000"/>
              </a:lnSpc>
              <a:spcAft>
                <a:spcPts val="500"/>
              </a:spcAft>
              <a:buClr>
                <a:srgbClr val="C0392B"/>
              </a:buClr>
              <a:buFont typeface="Calibri"/>
              <a:buChar char="‣"/>
            </a:pPr>
            <a:r>
              <a:rPr sz="1150" b="0" i="0">
                <a:solidFill>
                  <a:srgbClr val="FEFCF6"/>
                </a:solidFill>
                <a:latin typeface="Source Serif 4"/>
              </a:rPr>
              <a:t>Learns hidden ('latent') taste factors using matrix factorization (SVD)</a:t>
            </a:r>
          </a:p>
          <a:p>
            <a:pPr marL="182880" indent="-182880">
              <a:lnSpc>
                <a:spcPct val="118000"/>
              </a:lnSpc>
              <a:spcAft>
                <a:spcPts val="500"/>
              </a:spcAft>
              <a:buClr>
                <a:srgbClr val="C0392B"/>
              </a:buClr>
              <a:buFont typeface="Calibri"/>
              <a:buChar char="‣"/>
            </a:pPr>
            <a:r>
              <a:rPr sz="1150" b="0" i="0">
                <a:solidFill>
                  <a:srgbClr val="FEFCF6"/>
                </a:solidFill>
                <a:latin typeface="Source Serif 4"/>
              </a:rPr>
              <a:t>Predicts the rating a user would likely give to an unseen movie</a:t>
            </a:r>
          </a:p>
          <a:p>
            <a:pPr marL="182880" indent="-182880">
              <a:lnSpc>
                <a:spcPct val="118000"/>
              </a:lnSpc>
              <a:spcAft>
                <a:spcPts val="500"/>
              </a:spcAft>
              <a:buClr>
                <a:srgbClr val="C0392B"/>
              </a:buClr>
              <a:buFont typeface="Calibri"/>
              <a:buChar char="‣"/>
            </a:pPr>
            <a:r>
              <a:rPr sz="1150" b="0" i="0">
                <a:solidFill>
                  <a:srgbClr val="FEFCF6"/>
                </a:solidFill>
                <a:latin typeface="Source Serif 4"/>
              </a:rPr>
              <a:t>Finds patterns from real user behavior that metadata alone can't reveal</a:t>
            </a:r>
          </a:p>
          <a:p>
            <a:pPr marL="182880" indent="-182880">
              <a:lnSpc>
                <a:spcPct val="118000"/>
              </a:lnSpc>
              <a:spcAft>
                <a:spcPts val="500"/>
              </a:spcAft>
              <a:buClr>
                <a:srgbClr val="C0392B"/>
              </a:buClr>
              <a:buFont typeface="Calibri"/>
              <a:buChar char="‣"/>
            </a:pPr>
            <a:r>
              <a:rPr sz="1150" b="0" i="0">
                <a:solidFill>
                  <a:srgbClr val="FEFCF6"/>
                </a:solidFill>
                <a:latin typeface="Source Serif 4"/>
              </a:rPr>
              <a:t>This is component 2 of the hybrid model, run alongside the content-based score</a:t>
            </a:r>
          </a:p>
        </p:txBody>
      </p:sp>
      <p:pic>
        <p:nvPicPr>
          <p:cNvPr id="8" name="Picture 7" descr="useritem_matrix.png"/>
          <p:cNvPicPr>
            <a:picLocks noChangeAspect="1"/>
          </p:cNvPicPr>
          <p:nvPr/>
        </p:nvPicPr>
        <p:blipFill>
          <a:blip r:embed="rId4"/>
          <a:stretch>
            <a:fillRect/>
          </a:stretch>
        </p:blipFill>
        <p:spPr>
          <a:xfrm>
            <a:off x="4950000" y="1350000"/>
            <a:ext cx="3550000" cy="2130000"/>
          </a:xfrm>
          <a:prstGeom prst="rect">
            <a:avLst/>
          </a:prstGeom>
        </p:spPr>
      </p:pic>
      <p:sp>
        <p:nvSpPr>
          <p:cNvPr id="9" name="TextBox 8"/>
          <p:cNvSpPr txBox="1"/>
          <p:nvPr/>
        </p:nvSpPr>
        <p:spPr>
          <a:xfrm>
            <a:off x="469650" y="4700000"/>
            <a:ext cx="8204000" cy="350000"/>
          </a:xfrm>
          <a:prstGeom prst="rect">
            <a:avLst/>
          </a:prstGeom>
          <a:noFill/>
        </p:spPr>
        <p:txBody>
          <a:bodyPr wrap="square">
            <a:spAutoFit/>
          </a:bodyPr>
          <a:lstStyle/>
          <a:p>
            <a:pPr algn="l"/>
            <a:r>
              <a:rPr sz="1000" b="0" i="0">
                <a:solidFill>
                  <a:srgbClr val="B8AEA4"/>
                </a:solidFill>
                <a:latin typeface="Source Serif 4"/>
              </a:rPr>
              <a:t>'?' cells are the ratings SVD predicts — the movie with the highest predicted rating is recommended.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469650" y="190000"/>
            <a:ext cx="600000" cy="600000"/>
          </a:xfrm>
          <a:prstGeom prst="roundRect">
            <a:avLst>
              <a:gd name="adj" fmla="val 28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odebranch_white.png"/>
          <p:cNvPicPr>
            <a:picLocks noChangeAspect="1"/>
          </p:cNvPicPr>
          <p:nvPr/>
        </p:nvPicPr>
        <p:blipFill>
          <a:blip r:embed="rId2"/>
          <a:stretch>
            <a:fillRect/>
          </a:stretch>
        </p:blipFill>
        <p:spPr>
          <a:xfrm>
            <a:off x="599650" y="320000"/>
            <a:ext cx="340000" cy="340000"/>
          </a:xfrm>
          <a:prstGeom prst="rect">
            <a:avLst/>
          </a:prstGeom>
        </p:spPr>
      </p:pic>
      <p:sp>
        <p:nvSpPr>
          <p:cNvPr id="4" name="TextBox 3"/>
          <p:cNvSpPr txBox="1"/>
          <p:nvPr/>
        </p:nvSpPr>
        <p:spPr>
          <a:xfrm>
            <a:off x="1249650" y="190000"/>
            <a:ext cx="7644000" cy="600000"/>
          </a:xfrm>
          <a:prstGeom prst="rect">
            <a:avLst/>
          </a:prstGeom>
          <a:noFill/>
        </p:spPr>
        <p:txBody>
          <a:bodyPr wrap="square" anchor="ctr">
            <a:spAutoFit/>
          </a:bodyPr>
          <a:lstStyle/>
          <a:p>
            <a:r>
              <a:rPr sz="2900" b="1" i="0">
                <a:solidFill>
                  <a:srgbClr val="FEFCF6"/>
                </a:solidFill>
                <a:latin typeface="Algerian"/>
              </a:rPr>
              <a:t>HYBRID FUSION STRATEGY</a:t>
            </a:r>
          </a:p>
        </p:txBody>
      </p:sp>
      <p:pic>
        <p:nvPicPr>
          <p:cNvPr id="5" name="Picture 4" descr="hybrid_diagram.png"/>
          <p:cNvPicPr>
            <a:picLocks noChangeAspect="1"/>
          </p:cNvPicPr>
          <p:nvPr/>
        </p:nvPicPr>
        <p:blipFill>
          <a:blip r:embed="rId3"/>
          <a:stretch>
            <a:fillRect/>
          </a:stretch>
        </p:blipFill>
        <p:spPr>
          <a:xfrm>
            <a:off x="700000" y="1100000"/>
            <a:ext cx="7744000" cy="1970000"/>
          </a:xfrm>
          <a:prstGeom prst="rect">
            <a:avLst/>
          </a:prstGeom>
        </p:spPr>
      </p:pic>
      <p:pic>
        <p:nvPicPr>
          <p:cNvPr id="6" name="Picture 5" descr="sliders_white.png"/>
          <p:cNvPicPr>
            <a:picLocks noChangeAspect="1"/>
          </p:cNvPicPr>
          <p:nvPr/>
        </p:nvPicPr>
        <p:blipFill>
          <a:blip r:embed="rId4"/>
          <a:stretch>
            <a:fillRect/>
          </a:stretch>
        </p:blipFill>
        <p:spPr>
          <a:xfrm>
            <a:off x="469650" y="3300000"/>
            <a:ext cx="230000" cy="230000"/>
          </a:xfrm>
          <a:prstGeom prst="rect">
            <a:avLst/>
          </a:prstGeom>
        </p:spPr>
      </p:pic>
      <p:sp>
        <p:nvSpPr>
          <p:cNvPr id="7" name="TextBox 6"/>
          <p:cNvSpPr txBox="1"/>
          <p:nvPr/>
        </p:nvSpPr>
        <p:spPr>
          <a:xfrm>
            <a:off x="759650" y="3250000"/>
            <a:ext cx="3800000" cy="400000"/>
          </a:xfrm>
          <a:prstGeom prst="rect">
            <a:avLst/>
          </a:prstGeom>
          <a:noFill/>
        </p:spPr>
        <p:txBody>
          <a:bodyPr wrap="square" anchor="ctr">
            <a:spAutoFit/>
          </a:bodyPr>
          <a:lstStyle/>
          <a:p>
            <a:r>
              <a:rPr sz="1500" b="1" i="0">
                <a:solidFill>
                  <a:srgbClr val="FEFCF6"/>
                </a:solidFill>
                <a:latin typeface="Merriweather"/>
              </a:rPr>
              <a:t>How the Two Scores Are Blended</a:t>
            </a:r>
          </a:p>
        </p:txBody>
      </p:sp>
      <p:sp>
        <p:nvSpPr>
          <p:cNvPr id="8" name="TextBox 7"/>
          <p:cNvSpPr txBox="1"/>
          <p:nvPr/>
        </p:nvSpPr>
        <p:spPr>
          <a:xfrm>
            <a:off x="469650" y="3650000"/>
            <a:ext cx="8204000" cy="1350000"/>
          </a:xfrm>
          <a:prstGeom prst="rect">
            <a:avLst/>
          </a:prstGeom>
          <a:noFill/>
        </p:spPr>
        <p:txBody>
          <a:bodyPr wrap="square">
            <a:spAutoFit/>
          </a:bodyPr>
          <a:lstStyle/>
          <a:p>
            <a:pPr marL="182880" indent="-182880">
              <a:lnSpc>
                <a:spcPct val="118000"/>
              </a:lnSpc>
              <a:spcAft>
                <a:spcPts val="500"/>
              </a:spcAft>
              <a:buClr>
                <a:srgbClr val="C0392B"/>
              </a:buClr>
              <a:buFont typeface="Calibri"/>
              <a:buChar char="‣"/>
            </a:pPr>
            <a:r>
              <a:rPr sz="1150" b="0" i="0">
                <a:solidFill>
                  <a:srgbClr val="FEFCF6"/>
                </a:solidFill>
                <a:latin typeface="Source Serif 4"/>
              </a:rPr>
              <a:t>final_score = α × content_score + (1 − α) × collaborative_score</a:t>
            </a:r>
          </a:p>
          <a:p>
            <a:pPr marL="182880" indent="-182880">
              <a:lnSpc>
                <a:spcPct val="118000"/>
              </a:lnSpc>
              <a:spcAft>
                <a:spcPts val="500"/>
              </a:spcAft>
              <a:buClr>
                <a:srgbClr val="C0392B"/>
              </a:buClr>
              <a:buFont typeface="Calibri"/>
              <a:buChar char="‣"/>
            </a:pPr>
            <a:r>
              <a:rPr sz="1150" b="0" i="0">
                <a:solidFill>
                  <a:srgbClr val="FEFCF6"/>
                </a:solidFill>
                <a:latin typeface="Source Serif 4"/>
              </a:rPr>
              <a:t>α is tunable: weighted higher toward content-based for new users/movies (cold start)</a:t>
            </a:r>
          </a:p>
          <a:p>
            <a:pPr marL="182880" indent="-182880">
              <a:lnSpc>
                <a:spcPct val="118000"/>
              </a:lnSpc>
              <a:spcAft>
                <a:spcPts val="500"/>
              </a:spcAft>
              <a:buClr>
                <a:srgbClr val="C0392B"/>
              </a:buClr>
              <a:buFont typeface="Calibri"/>
              <a:buChar char="‣"/>
            </a:pPr>
            <a:r>
              <a:rPr sz="1150" b="0" i="0">
                <a:solidFill>
                  <a:srgbClr val="FEFCF6"/>
                </a:solidFill>
                <a:latin typeface="Source Serif 4"/>
              </a:rPr>
              <a:t>Weighted higher toward collaborative filtering once enough ratings exist</a:t>
            </a:r>
          </a:p>
          <a:p>
            <a:pPr marL="182880" indent="-182880">
              <a:lnSpc>
                <a:spcPct val="118000"/>
              </a:lnSpc>
              <a:spcAft>
                <a:spcPts val="500"/>
              </a:spcAft>
              <a:buClr>
                <a:srgbClr val="C0392B"/>
              </a:buClr>
              <a:buFont typeface="Calibri"/>
              <a:buChar char="‣"/>
            </a:pPr>
            <a:r>
              <a:rPr sz="1150" b="0" i="0">
                <a:solidFill>
                  <a:srgbClr val="FEFCF6"/>
                </a:solidFill>
                <a:latin typeface="Source Serif 4"/>
              </a:rPr>
              <a:t>Final list is re-sorted by the blended score — top 5 movies are recommended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3997000" y="700000"/>
            <a:ext cx="1150000" cy="11500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lapperboard_white.png"/>
          <p:cNvPicPr>
            <a:picLocks noChangeAspect="1"/>
          </p:cNvPicPr>
          <p:nvPr/>
        </p:nvPicPr>
        <p:blipFill>
          <a:blip r:embed="rId2"/>
          <a:stretch>
            <a:fillRect/>
          </a:stretch>
        </p:blipFill>
        <p:spPr>
          <a:xfrm>
            <a:off x="4277000" y="980000"/>
            <a:ext cx="590000" cy="590000"/>
          </a:xfrm>
          <a:prstGeom prst="rect">
            <a:avLst/>
          </a:prstGeom>
        </p:spPr>
      </p:pic>
      <p:sp>
        <p:nvSpPr>
          <p:cNvPr id="4" name="TextBox 3"/>
          <p:cNvSpPr txBox="1"/>
          <p:nvPr/>
        </p:nvSpPr>
        <p:spPr>
          <a:xfrm>
            <a:off x="700000" y="2050000"/>
            <a:ext cx="7744000" cy="900000"/>
          </a:xfrm>
          <a:prstGeom prst="rect">
            <a:avLst/>
          </a:prstGeom>
          <a:noFill/>
        </p:spPr>
        <p:txBody>
          <a:bodyPr wrap="square">
            <a:spAutoFit/>
          </a:bodyPr>
          <a:lstStyle/>
          <a:p>
            <a:pPr algn="ctr"/>
            <a:r>
              <a:rPr sz="4400" b="1" i="0">
                <a:solidFill>
                  <a:srgbClr val="FEFCF6"/>
                </a:solidFill>
                <a:latin typeface="Algerian"/>
              </a:rPr>
              <a:t>THANK YOU</a:t>
            </a:r>
          </a:p>
        </p:txBody>
      </p:sp>
      <p:sp>
        <p:nvSpPr>
          <p:cNvPr id="5" name="TextBox 4"/>
          <p:cNvSpPr txBox="1"/>
          <p:nvPr/>
        </p:nvSpPr>
        <p:spPr>
          <a:xfrm>
            <a:off x="700000" y="2950000"/>
            <a:ext cx="7744000" cy="500000"/>
          </a:xfrm>
          <a:prstGeom prst="rect">
            <a:avLst/>
          </a:prstGeom>
          <a:noFill/>
        </p:spPr>
        <p:txBody>
          <a:bodyPr wrap="square">
            <a:spAutoFit/>
          </a:bodyPr>
          <a:lstStyle/>
          <a:p>
            <a:pPr algn="ctr"/>
            <a:r>
              <a:rPr sz="1400" b="0" i="1">
                <a:solidFill>
                  <a:srgbClr val="FEFCF6"/>
                </a:solidFill>
                <a:latin typeface="Source Serif 4"/>
              </a:rPr>
              <a:t>Hybrid Movie Recommendation System — Content-Based + Collaborative Filtering</a:t>
            </a:r>
          </a:p>
        </p:txBody>
      </p:sp>
      <p:sp>
        <p:nvSpPr>
          <p:cNvPr id="6" name="TextBox 5"/>
          <p:cNvSpPr txBox="1"/>
          <p:nvPr/>
        </p:nvSpPr>
        <p:spPr>
          <a:xfrm>
            <a:off x="700000" y="3550000"/>
            <a:ext cx="7744000" cy="450000"/>
          </a:xfrm>
          <a:prstGeom prst="rect">
            <a:avLst/>
          </a:prstGeom>
          <a:noFill/>
        </p:spPr>
        <p:txBody>
          <a:bodyPr wrap="square">
            <a:spAutoFit/>
          </a:bodyPr>
          <a:lstStyle/>
          <a:p>
            <a:pPr algn="ctr"/>
            <a:r>
              <a:rPr sz="1600" b="1" i="0">
                <a:solidFill>
                  <a:srgbClr val="C0392B"/>
                </a:solidFill>
                <a:latin typeface="Merriweather"/>
              </a:rPr>
              <a:t>Sanjana Kashyap</a:t>
            </a:r>
          </a:p>
        </p:txBody>
      </p:sp>
      <p:sp>
        <p:nvSpPr>
          <p:cNvPr id="7" name="TextBox 6"/>
          <p:cNvSpPr txBox="1"/>
          <p:nvPr/>
        </p:nvSpPr>
        <p:spPr>
          <a:xfrm>
            <a:off x="700000" y="4200000"/>
            <a:ext cx="7744000" cy="450000"/>
          </a:xfrm>
          <a:prstGeom prst="rect">
            <a:avLst/>
          </a:prstGeom>
          <a:noFill/>
        </p:spPr>
        <p:txBody>
          <a:bodyPr wrap="square">
            <a:spAutoFit/>
          </a:bodyPr>
          <a:lstStyle/>
          <a:p>
            <a:pPr algn="ctr"/>
            <a:r>
              <a:rPr sz="1200" b="0" i="0">
                <a:solidFill>
                  <a:srgbClr val="B8AEA4"/>
                </a:solidFill>
                <a:latin typeface="Source Serif 4"/>
              </a:rPr>
              <a:t>Questions &amp; Discussion Welcome</a:t>
            </a:r>
          </a:p>
        </p:txBody>
      </p:sp>
    </p:spTree>
  </p:cSld>
  <p:clrMapOvr>
    <a:masterClrMapping/>
  </p:clrMapOvr>
</p:sld>
</file>

<file path=ppt/theme/theme1.xml><?xml version="1.0" encoding="utf-8"?>
<a:theme xmlns:a="http://schemas.openxmlformats.org/drawingml/2006/main" name="German Cinema and Visual Culture Master of Arts in German by Slidesgo">
  <a:themeElements>
    <a:clrScheme name="Simple Light">
      <a:dk1>
        <a:srgbClr val="FEFCF6"/>
      </a:dk1>
      <a:lt1>
        <a:srgbClr val="281D1B"/>
      </a:lt1>
      <a:dk2>
        <a:srgbClr val="BDB69D"/>
      </a:dk2>
      <a:lt2>
        <a:srgbClr val="DB0011"/>
      </a:lt2>
      <a:accent1>
        <a:srgbClr val="BF0000"/>
      </a:accent1>
      <a:accent2>
        <a:srgbClr val="8D7368"/>
      </a:accent2>
      <a:accent3>
        <a:srgbClr val="554640"/>
      </a:accent3>
      <a:accent4>
        <a:srgbClr val="342C29"/>
      </a:accent4>
      <a:accent5>
        <a:srgbClr val="FFFFFF"/>
      </a:accent5>
      <a:accent6>
        <a:srgbClr val="FFFFFF"/>
      </a:accent6>
      <a:hlink>
        <a:srgbClr val="FEFCF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150</TotalTime>
  <Words>292</Words>
  <Application>Microsoft Office PowerPoint</Application>
  <PresentationFormat>On-screen Show (16:9)</PresentationFormat>
  <Paragraphs>39</Paragraphs>
  <Slides>12</Slides>
  <Notes>1</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German Cinema and Visual Culture Master of Arts in German by Slidesgo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sanjana.kashyap0522@gmail.com</cp:lastModifiedBy>
  <cp:revision>2</cp:revision>
  <dcterms:modified xsi:type="dcterms:W3CDTF">2026-08-11T06:11:50Z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2026-06-22T17:51:56Z</dcterms:created>
  <dc:creator>Unknown Creator</dc:creator>
  <dc:description/>
  <dc:language>en-US</dc:language>
  <cp:lastModifiedBy>Unknown Creator</cp:lastModifiedBy>
  <dcterms:modified xsi:type="dcterms:W3CDTF">2026-06-22T17:51:56Z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16</vt:r8>
  </property>
</Properties>
</file>